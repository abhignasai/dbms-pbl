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961120" y="0"/>
            <a:ext cx="3291840" cy="1005840"/>
          </a:xfrm>
          <a:prstGeom prst="rect">
            <a:avLst/>
          </a:prstGeom>
          <a:solidFill>
            <a:srgbClr val="3A9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784080" y="914400"/>
            <a:ext cx="2377440" cy="640080"/>
          </a:xfrm>
          <a:prstGeom prst="rect">
            <a:avLst/>
          </a:prstGeom>
          <a:solidFill>
            <a:srgbClr val="26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412480" y="6126480"/>
            <a:ext cx="3749039" cy="731520"/>
          </a:xfrm>
          <a:prstGeom prst="rect">
            <a:avLst/>
          </a:prstGeom>
          <a:solidFill>
            <a:srgbClr val="26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3A9CBE"/>
                </a:solidFill>
              </a:rPr>
              <a:t>PROJECT 30</a:t>
            </a:r>
          </a:p>
          <a:p>
            <a:r>
              <a:rPr sz="3600" b="1">
                <a:solidFill>
                  <a:srgbClr val="FFFFFF"/>
                </a:solidFill>
              </a:rPr>
              <a:t>Sports Club Membership &amp;</a:t>
            </a:r>
          </a:p>
          <a:p>
            <a:r>
              <a:rPr sz="3600" b="1">
                <a:solidFill>
                  <a:srgbClr val="FFFFFF"/>
                </a:solidFill>
              </a:rPr>
              <a:t>Tournament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33756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D2E0EC"/>
                </a:solidFill>
              </a:rPr>
              <a:t>DBMS Project • Review 1</a:t>
            </a:r>
          </a:p>
          <a:p>
            <a:r>
              <a:rPr sz="1300">
                <a:solidFill>
                  <a:srgbClr val="B0C4D6"/>
                </a:solidFill>
              </a:rPr>
              <a:t>Problem Identification • Literature Survey • Project Planning • SRS • ER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166360"/>
            <a:ext cx="5943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Presented by: ____________________</a:t>
            </a:r>
          </a:p>
          <a:p>
            <a:r>
              <a:rPr sz="1200">
                <a:solidFill>
                  <a:srgbClr val="BECDDC"/>
                </a:solidFill>
              </a:rPr>
              <a:t>Course: Database Management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Review 1 — Requirement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46304"/>
            <a:ext cx="24688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CDDCEB"/>
                </a:solidFill>
              </a:rPr>
              <a:t>5 Marks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D6977"/>
                </a:solidFill>
              </a:rPr>
              <a:t>DBMS PBL • Project 30 • Review 1    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51560"/>
            <a:ext cx="352044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051560"/>
            <a:ext cx="73152" cy="1325880"/>
          </a:xfrm>
          <a:prstGeom prst="rect">
            <a:avLst/>
          </a:prstGeom>
          <a:solidFill>
            <a:srgbClr val="B4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1161288"/>
            <a:ext cx="3154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2340"/>
                </a:solidFill>
              </a:rPr>
              <a:t>Problem Identification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581912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02A36"/>
                </a:solidFill>
              </a:defRPr>
            </a:pPr>
            <a:r>
              <a:t>• Current challenges in member records, scheduling, tournaments, fees and equipment tracking.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051560"/>
            <a:ext cx="352044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051560"/>
            <a:ext cx="73152" cy="1325880"/>
          </a:xfrm>
          <a:prstGeom prst="rect">
            <a:avLst/>
          </a:prstGeom>
          <a:solidFill>
            <a:srgbClr val="CD7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44568" y="1161288"/>
            <a:ext cx="3154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2340"/>
                </a:solidFill>
              </a:rPr>
              <a:t>Literature Survey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1581912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02A36"/>
                </a:solidFill>
              </a:defRPr>
            </a:pPr>
            <a:r>
              <a:t>• Study existing sports-club management platforms and identify common capabilities and gaps.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051560"/>
            <a:ext cx="352044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1051560"/>
            <a:ext cx="73152" cy="1325880"/>
          </a:xfrm>
          <a:prstGeom prst="rect">
            <a:avLst/>
          </a:prstGeom>
          <a:solidFill>
            <a:srgbClr val="3E8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93608" y="1161288"/>
            <a:ext cx="3154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2340"/>
                </a:solidFill>
              </a:rPr>
              <a:t>Project Planning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1581912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02A36"/>
                </a:solidFill>
              </a:defRPr>
            </a:pPr>
            <a:r>
              <a:t>• Define scope, milestones, deliverables, technology stack and responsibilities.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606040"/>
            <a:ext cx="352044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4360" y="2606040"/>
            <a:ext cx="73152" cy="1325880"/>
          </a:xfrm>
          <a:prstGeom prst="rect">
            <a:avLst/>
          </a:prstGeom>
          <a:solidFill>
            <a:srgbClr val="26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5528" y="2715768"/>
            <a:ext cx="3154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2340"/>
                </a:solidFill>
              </a:rPr>
              <a:t>SRS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3136392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02A36"/>
                </a:solidFill>
              </a:defRPr>
            </a:pPr>
            <a:r>
              <a:t>• Define users, functional requirements, non-functional requirements and business rules.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2606040"/>
            <a:ext cx="352044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43400" y="2606040"/>
            <a:ext cx="73152" cy="1325880"/>
          </a:xfrm>
          <a:prstGeom prst="rect">
            <a:avLst/>
          </a:prstGeom>
          <a:solidFill>
            <a:srgbClr val="3A9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44568" y="2715768"/>
            <a:ext cx="3154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2340"/>
                </a:solidFill>
              </a:rPr>
              <a:t>Conceptual Design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4568" y="3136392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02A36"/>
                </a:solidFill>
              </a:defRPr>
            </a:pPr>
            <a:r>
              <a:t>• ER model covering the required principal entities and their relationships.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2606040"/>
            <a:ext cx="352044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92440" y="2606040"/>
            <a:ext cx="73152" cy="1325880"/>
          </a:xfrm>
          <a:prstGeom prst="rect">
            <a:avLst/>
          </a:prstGeom>
          <a:solidFill>
            <a:srgbClr val="26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93608" y="2715768"/>
            <a:ext cx="3154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2340"/>
                </a:solidFill>
              </a:rPr>
              <a:t>Initial Relational Schema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3608" y="3136392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02A36"/>
                </a:solidFill>
              </a:defRPr>
            </a:pPr>
            <a:r>
              <a:t>• Proposed tables with primary keys, foreign keys and relationships.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4315968"/>
            <a:ext cx="3200400" cy="347472"/>
          </a:xfrm>
          <a:prstGeom prst="roundRect">
            <a:avLst/>
          </a:prstGeom>
          <a:solidFill>
            <a:srgbClr val="E0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65B91"/>
                </a:solidFill>
              </a:rPr>
              <a:t>REVIEW 1 DELIVERABLES FROM PROJECT 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709160"/>
            <a:ext cx="107899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02A36"/>
                </a:solidFill>
              </a:defRPr>
            </a:pPr>
            <a:r>
              <a:t>• Problem identification, scope, objectives, users and functional requirements</a:t>
            </a:r>
          </a:p>
          <a:p>
            <a:pPr>
              <a:spcAft>
                <a:spcPts val="700"/>
              </a:spcAft>
              <a:defRPr sz="1400">
                <a:solidFill>
                  <a:srgbClr val="202A36"/>
                </a:solidFill>
              </a:defRPr>
            </a:pPr>
            <a:r>
              <a:t>• Conceptual design / ER diagram</a:t>
            </a:r>
          </a:p>
          <a:p>
            <a:pPr>
              <a:spcAft>
                <a:spcPts val="700"/>
              </a:spcAft>
              <a:defRPr sz="1400">
                <a:solidFill>
                  <a:srgbClr val="202A36"/>
                </a:solidFill>
              </a:defRPr>
            </a:pPr>
            <a:r>
              <a:t>• Initial relational schema showing proposed tables, primary keys and relationships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1. Problem Identification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46304"/>
            <a:ext cx="24688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CDDCEB"/>
                </a:solidFill>
              </a:rPr>
              <a:t>Why this system is needed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D6977"/>
                </a:solidFill>
              </a:rPr>
              <a:t>DBMS PBL • Project 30 • Review 1    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60120"/>
            <a:ext cx="2011680" cy="347472"/>
          </a:xfrm>
          <a:prstGeom prst="roundRect">
            <a:avLst/>
          </a:prstGeom>
          <a:solidFill>
            <a:srgbClr val="E0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65B91"/>
                </a:solidFill>
              </a:rPr>
              <a:t>CURRENT SITUATION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5577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02A36"/>
                </a:solidFill>
              </a:defRPr>
            </a:pPr>
            <a:r>
              <a:t>• Sports clubs manage members, teams, coaches, facilities, training, tournaments, payments and equipment.</a:t>
            </a:r>
          </a:p>
          <a:p>
            <a:pPr>
              <a:spcAft>
                <a:spcPts val="700"/>
              </a:spcAft>
              <a:defRPr sz="1600">
                <a:solidFill>
                  <a:srgbClr val="202A36"/>
                </a:solidFill>
              </a:defRPr>
            </a:pPr>
            <a:r>
              <a:t>• Manual files or disconnected spreadsheets make it difficult to keep records consistent.</a:t>
            </a:r>
          </a:p>
          <a:p>
            <a:pPr>
              <a:spcAft>
                <a:spcPts val="700"/>
              </a:spcAft>
              <a:defRPr sz="1600">
                <a:solidFill>
                  <a:srgbClr val="202A36"/>
                </a:solidFill>
              </a:defRPr>
            </a:pPr>
            <a:r>
              <a:t>• Facility and team schedules can conflict when bookings are maintained separately.</a:t>
            </a:r>
          </a:p>
          <a:p>
            <a:pPr>
              <a:spcAft>
                <a:spcPts val="700"/>
              </a:spcAft>
              <a:defRPr sz="1600">
                <a:solidFill>
                  <a:srgbClr val="202A36"/>
                </a:solidFill>
              </a:defRPr>
            </a:pPr>
            <a:r>
              <a:t>• Tournament fixtures, results and standings require repeated manual updates.</a:t>
            </a:r>
          </a:p>
          <a:p>
            <a:pPr>
              <a:spcAft>
                <a:spcPts val="700"/>
              </a:spcAft>
              <a:defRPr sz="1600">
                <a:solidFill>
                  <a:srgbClr val="202A36"/>
                </a:solidFill>
              </a:defRPr>
            </a:pPr>
            <a:r>
              <a:t>• Fee dues and equipment returns are harder to track without a centralized database.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960120"/>
            <a:ext cx="2011680" cy="347472"/>
          </a:xfrm>
          <a:prstGeom prst="roundRect">
            <a:avLst/>
          </a:prstGeom>
          <a:solidFill>
            <a:srgbClr val="E0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65B91"/>
                </a:solidFill>
              </a:rPr>
              <a:t>PROPOSED SOLUTION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1417320"/>
            <a:ext cx="4892040" cy="2331720"/>
          </a:xfrm>
          <a:prstGeom prst="roundRect">
            <a:avLst/>
          </a:prstGeom>
          <a:solidFill>
            <a:srgbClr val="F2F6FA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629400" y="1417320"/>
            <a:ext cx="73152" cy="2331720"/>
          </a:xfrm>
          <a:prstGeom prst="rect">
            <a:avLst/>
          </a:prstGeom>
          <a:solidFill>
            <a:srgbClr val="26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30568" y="1527048"/>
            <a:ext cx="45262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2340"/>
                </a:solidFill>
              </a:rPr>
              <a:t>Centralized Relational 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1947672"/>
            <a:ext cx="4526279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02A36"/>
                </a:solidFill>
              </a:defRPr>
            </a:pPr>
            <a:r>
              <a:t>• Single source of truth for club operations</a:t>
            </a:r>
          </a:p>
          <a:p>
            <a:pPr>
              <a:spcAft>
                <a:spcPts val="400"/>
              </a:spcAft>
              <a:defRPr sz="1400">
                <a:solidFill>
                  <a:srgbClr val="202A36"/>
                </a:solidFill>
              </a:defRPr>
            </a:pPr>
            <a:r>
              <a:t>• Linked records using PK/FK relationships</a:t>
            </a:r>
          </a:p>
          <a:p>
            <a:pPr>
              <a:spcAft>
                <a:spcPts val="400"/>
              </a:spcAft>
              <a:defRPr sz="1400">
                <a:solidFill>
                  <a:srgbClr val="202A36"/>
                </a:solidFill>
              </a:defRPr>
            </a:pPr>
            <a:r>
              <a:t>• Validation and integrity constraints</a:t>
            </a:r>
          </a:p>
          <a:p>
            <a:pPr>
              <a:spcAft>
                <a:spcPts val="400"/>
              </a:spcAft>
              <a:defRPr sz="1400">
                <a:solidFill>
                  <a:srgbClr val="202A36"/>
                </a:solidFill>
              </a:defRPr>
            </a:pPr>
            <a:r>
              <a:t>• Reports for management decisions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3977639"/>
            <a:ext cx="4892040" cy="1600200"/>
          </a:xfrm>
          <a:prstGeom prst="roundRect">
            <a:avLst/>
          </a:prstGeom>
          <a:solidFill>
            <a:srgbClr val="F2F6FA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29400" y="3977639"/>
            <a:ext cx="73152" cy="1600200"/>
          </a:xfrm>
          <a:prstGeom prst="rect">
            <a:avLst/>
          </a:prstGeom>
          <a:solidFill>
            <a:srgbClr val="3E8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30568" y="4087368"/>
            <a:ext cx="45262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2340"/>
                </a:solidFill>
              </a:rPr>
              <a:t>Core 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0568" y="4507992"/>
            <a:ext cx="452627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02A36"/>
                </a:solidFill>
              </a:defRPr>
            </a:pPr>
            <a:r>
              <a:t>• Reduce duplication and manual coordination</a:t>
            </a:r>
          </a:p>
          <a:p>
            <a:pPr>
              <a:spcAft>
                <a:spcPts val="400"/>
              </a:spcAft>
              <a:defRPr sz="1300">
                <a:solidFill>
                  <a:srgbClr val="202A36"/>
                </a:solidFill>
              </a:defRPr>
            </a:pPr>
            <a:r>
              <a:t>• Improve schedule visibility</a:t>
            </a:r>
          </a:p>
          <a:p>
            <a:pPr>
              <a:spcAft>
                <a:spcPts val="400"/>
              </a:spcAft>
              <a:defRPr sz="1300">
                <a:solidFill>
                  <a:srgbClr val="202A36"/>
                </a:solidFill>
              </a:defRPr>
            </a:pPr>
            <a:r>
              <a:t>• Track payments, results and equipment</a:t>
            </a:r>
          </a:p>
          <a:p>
            <a:pPr>
              <a:spcAft>
                <a:spcPts val="400"/>
              </a:spcAft>
              <a:defRPr sz="1300">
                <a:solidFill>
                  <a:srgbClr val="202A36"/>
                </a:solidFill>
              </a:defRPr>
            </a:pPr>
            <a:r>
              <a:t>• Support future Java/Python front end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2. Literature Survey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46304"/>
            <a:ext cx="24688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CDDCEB"/>
                </a:solidFill>
              </a:rPr>
              <a:t>Existing solutions &amp;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D6977"/>
                </a:solidFill>
              </a:rPr>
              <a:t>DBMS PBL • Project 30 • Review 1    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97280"/>
            <a:ext cx="3474720" cy="2743200"/>
          </a:xfrm>
          <a:prstGeom prst="roundRect">
            <a:avLst/>
          </a:prstGeom>
          <a:solidFill>
            <a:srgbClr val="F2F6FA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097280"/>
            <a:ext cx="73152" cy="2743200"/>
          </a:xfrm>
          <a:prstGeom prst="rect">
            <a:avLst/>
          </a:prstGeom>
          <a:solidFill>
            <a:srgbClr val="26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1207007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2340"/>
                </a:solidFill>
              </a:rPr>
              <a:t>SportMember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627631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02A36"/>
                </a:solidFill>
              </a:defRPr>
            </a:pPr>
            <a:r>
              <a:t>• Member database and role-based access</a:t>
            </a:r>
          </a:p>
          <a:p>
            <a:pPr>
              <a:spcAft>
                <a:spcPts val="400"/>
              </a:spcAft>
              <a:defRPr sz="1300">
                <a:solidFill>
                  <a:srgbClr val="202A36"/>
                </a:solidFill>
              </a:defRPr>
            </a:pPr>
            <a:r>
              <a:t>• Activities/calendar and attendance</a:t>
            </a:r>
          </a:p>
          <a:p>
            <a:pPr>
              <a:spcAft>
                <a:spcPts val="400"/>
              </a:spcAft>
              <a:defRPr sz="1300">
                <a:solidFill>
                  <a:srgbClr val="202A36"/>
                </a:solidFill>
              </a:defRPr>
            </a:pPr>
            <a:r>
              <a:t>• Membership and match-fee payments</a:t>
            </a:r>
          </a:p>
          <a:p>
            <a:pPr>
              <a:spcAft>
                <a:spcPts val="400"/>
              </a:spcAft>
              <a:defRPr sz="1300">
                <a:solidFill>
                  <a:srgbClr val="202A36"/>
                </a:solidFill>
              </a:defRPr>
            </a:pPr>
            <a:r>
              <a:t>• Facility/equipment booking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097280"/>
            <a:ext cx="3474720" cy="2743200"/>
          </a:xfrm>
          <a:prstGeom prst="roundRect">
            <a:avLst/>
          </a:prstGeom>
          <a:solidFill>
            <a:srgbClr val="F2F6FA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097280"/>
            <a:ext cx="73152" cy="2743200"/>
          </a:xfrm>
          <a:prstGeom prst="rect">
            <a:avLst/>
          </a:prstGeom>
          <a:solidFill>
            <a:srgbClr val="3A9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44568" y="1207007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2340"/>
                </a:solidFill>
              </a:rPr>
              <a:t>TeamSnap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1627631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02A36"/>
                </a:solidFill>
              </a:defRPr>
            </a:pPr>
            <a:r>
              <a:t>• Tournament organization</a:t>
            </a:r>
          </a:p>
          <a:p>
            <a:pPr>
              <a:spcAft>
                <a:spcPts val="400"/>
              </a:spcAft>
              <a:defRPr sz="1300">
                <a:solidFill>
                  <a:srgbClr val="202A36"/>
                </a:solidFill>
              </a:defRPr>
            </a:pPr>
            <a:r>
              <a:t>• Pools/brackets and standings</a:t>
            </a:r>
          </a:p>
          <a:p>
            <a:pPr>
              <a:spcAft>
                <a:spcPts val="400"/>
              </a:spcAft>
              <a:defRPr sz="1300">
                <a:solidFill>
                  <a:srgbClr val="202A36"/>
                </a:solidFill>
              </a:defRPr>
            </a:pPr>
            <a:r>
              <a:t>• Scheduling and conflict support</a:t>
            </a:r>
          </a:p>
          <a:p>
            <a:pPr>
              <a:spcAft>
                <a:spcPts val="400"/>
              </a:spcAft>
              <a:defRPr sz="1300">
                <a:solidFill>
                  <a:srgbClr val="202A36"/>
                </a:solidFill>
              </a:defRPr>
            </a:pPr>
            <a:r>
              <a:t>• Online registration and results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097280"/>
            <a:ext cx="3474720" cy="2743200"/>
          </a:xfrm>
          <a:prstGeom prst="roundRect">
            <a:avLst/>
          </a:prstGeom>
          <a:solidFill>
            <a:srgbClr val="F2F6FA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1097280"/>
            <a:ext cx="73152" cy="2743200"/>
          </a:xfrm>
          <a:prstGeom prst="rect">
            <a:avLst/>
          </a:prstGeom>
          <a:solidFill>
            <a:srgbClr val="3E8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93608" y="1207007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2340"/>
                </a:solidFill>
              </a:rPr>
              <a:t>Key Learning for Our DBMS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1627631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02A36"/>
                </a:solidFill>
              </a:defRPr>
            </a:pPr>
            <a:r>
              <a:t>• Sports operations are naturally relational</a:t>
            </a:r>
          </a:p>
          <a:p>
            <a:pPr>
              <a:spcAft>
                <a:spcPts val="400"/>
              </a:spcAft>
              <a:defRPr sz="1300">
                <a:solidFill>
                  <a:srgbClr val="202A36"/>
                </a:solidFill>
              </a:defRPr>
            </a:pPr>
            <a:r>
              <a:t>• Member, team, schedule and payment data must be connected</a:t>
            </a:r>
          </a:p>
          <a:p>
            <a:pPr>
              <a:spcAft>
                <a:spcPts val="400"/>
              </a:spcAft>
              <a:defRPr sz="1300">
                <a:solidFill>
                  <a:srgbClr val="202A36"/>
                </a:solidFill>
              </a:defRPr>
            </a:pPr>
            <a:r>
              <a:t>• Tournament data benefits from structured fixtures/results</a:t>
            </a:r>
          </a:p>
          <a:p>
            <a:pPr>
              <a:spcAft>
                <a:spcPts val="400"/>
              </a:spcAft>
              <a:defRPr sz="1300">
                <a:solidFill>
                  <a:srgbClr val="202A36"/>
                </a:solidFill>
              </a:defRPr>
            </a:pPr>
            <a:r>
              <a:t>• Our academic implementation emphasizes ER design, normalization and integrity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160520"/>
            <a:ext cx="1088136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12340"/>
                </a:solidFill>
              </a:rPr>
              <a:t>Research conclusion</a:t>
            </a:r>
          </a:p>
          <a:p>
            <a:r>
              <a:rPr sz="1400">
                <a:solidFill>
                  <a:srgbClr val="202A36"/>
                </a:solidFill>
              </a:rPr>
              <a:t>Existing platforms demonstrate the value of integrated membership, scheduling, payments and tournament management. Our project converts these requirements into a structured academic RDBMS with explicit entities, relationships, constraints and reporting.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66928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D6977"/>
                </a:solidFill>
              </a:rPr>
              <a:t>Sources: SportMember; TeamSnap; MySQL Reference Manual.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3. Scope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46304"/>
            <a:ext cx="24688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CDDCEB"/>
                </a:solidFill>
              </a:rPr>
              <a:t>What the project will cover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D6977"/>
                </a:solidFill>
              </a:rPr>
              <a:t>DBMS PBL • Project 30 • Review 1    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51560"/>
            <a:ext cx="274320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051560"/>
            <a:ext cx="73152" cy="1828800"/>
          </a:xfrm>
          <a:prstGeom prst="rect">
            <a:avLst/>
          </a:prstGeom>
          <a:solidFill>
            <a:srgbClr val="26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1161288"/>
            <a:ext cx="2377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2340"/>
                </a:solidFill>
              </a:rPr>
              <a:t>Membership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581912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Member registration</a:t>
            </a:r>
          </a:p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Plans &amp; status</a:t>
            </a:r>
          </a:p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Payments &amp; fee dues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051560"/>
            <a:ext cx="274320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66160" y="1051560"/>
            <a:ext cx="73152" cy="1828800"/>
          </a:xfrm>
          <a:prstGeom prst="rect">
            <a:avLst/>
          </a:prstGeom>
          <a:solidFill>
            <a:srgbClr val="3A9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67328" y="1161288"/>
            <a:ext cx="2377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2340"/>
                </a:solidFill>
              </a:rPr>
              <a:t>Sports &amp; Teams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7328" y="1581912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Sports/team creation</a:t>
            </a:r>
          </a:p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Player assignment</a:t>
            </a:r>
          </a:p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Coach management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1051560"/>
            <a:ext cx="274320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37960" y="1051560"/>
            <a:ext cx="73152" cy="1828800"/>
          </a:xfrm>
          <a:prstGeom prst="rect">
            <a:avLst/>
          </a:prstGeom>
          <a:solidFill>
            <a:srgbClr val="3E8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39128" y="1161288"/>
            <a:ext cx="2377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2340"/>
                </a:solidFill>
              </a:rPr>
              <a:t>Training &amp; Facilities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9128" y="1581912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Training schedules</a:t>
            </a:r>
          </a:p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Facility booking</a:t>
            </a:r>
          </a:p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Conflict prevention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09760" y="1051560"/>
            <a:ext cx="210312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509760" y="1051560"/>
            <a:ext cx="73152" cy="1828800"/>
          </a:xfrm>
          <a:prstGeom prst="rect">
            <a:avLst/>
          </a:prstGeom>
          <a:solidFill>
            <a:srgbClr val="CD7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710928" y="1161288"/>
            <a:ext cx="1737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2340"/>
                </a:solidFill>
              </a:rPr>
              <a:t>Tournaments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10928" y="1581912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Tournament setup</a:t>
            </a:r>
          </a:p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Participants &amp; fixtures</a:t>
            </a:r>
          </a:p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Results &amp; standings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200400"/>
            <a:ext cx="2743200" cy="1554480"/>
          </a:xfrm>
          <a:prstGeom prst="roundRect">
            <a:avLst/>
          </a:prstGeom>
          <a:solidFill>
            <a:srgbClr val="F2F6FA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94360" y="3200400"/>
            <a:ext cx="73152" cy="1554480"/>
          </a:xfrm>
          <a:prstGeom prst="rect">
            <a:avLst/>
          </a:prstGeom>
          <a:solidFill>
            <a:srgbClr val="CD7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5528" y="3310128"/>
            <a:ext cx="2377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2340"/>
                </a:solidFill>
              </a:rPr>
              <a:t>Equipment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3730752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Equipment records</a:t>
            </a:r>
          </a:p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Issue/return tracking</a:t>
            </a:r>
          </a:p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Overdue status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66160" y="3200400"/>
            <a:ext cx="2743200" cy="1554480"/>
          </a:xfrm>
          <a:prstGeom prst="roundRect">
            <a:avLst/>
          </a:prstGeom>
          <a:solidFill>
            <a:srgbClr val="F2F6FA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566160" y="3200400"/>
            <a:ext cx="73152" cy="1554480"/>
          </a:xfrm>
          <a:prstGeom prst="rect">
            <a:avLst/>
          </a:prstGeom>
          <a:solidFill>
            <a:srgbClr val="26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767328" y="3310128"/>
            <a:ext cx="2377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2340"/>
                </a:solidFill>
              </a:rPr>
              <a:t>Reports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67328" y="3730752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Memberships</a:t>
            </a:r>
          </a:p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Facility use</a:t>
            </a:r>
          </a:p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Player performance</a:t>
            </a:r>
          </a:p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Fee dues &amp; equipment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37960" y="3200400"/>
            <a:ext cx="2743200" cy="1554480"/>
          </a:xfrm>
          <a:prstGeom prst="roundRect">
            <a:avLst/>
          </a:prstGeom>
          <a:solidFill>
            <a:srgbClr val="F2F6FA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537960" y="3200400"/>
            <a:ext cx="73152" cy="1554480"/>
          </a:xfrm>
          <a:prstGeom prst="rect">
            <a:avLst/>
          </a:prstGeom>
          <a:solidFill>
            <a:srgbClr val="3A9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39128" y="3310128"/>
            <a:ext cx="2377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2340"/>
                </a:solidFill>
              </a:rPr>
              <a:t>Database Objectives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39128" y="3730752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Relational design</a:t>
            </a:r>
          </a:p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3NF normalization</a:t>
            </a:r>
          </a:p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Data integrity</a:t>
            </a:r>
          </a:p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Efficient retrieval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09760" y="3200400"/>
            <a:ext cx="2103120" cy="1554480"/>
          </a:xfrm>
          <a:prstGeom prst="roundRect">
            <a:avLst/>
          </a:prstGeom>
          <a:solidFill>
            <a:srgbClr val="F2F6FA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509760" y="3200400"/>
            <a:ext cx="73152" cy="1554480"/>
          </a:xfrm>
          <a:prstGeom prst="rect">
            <a:avLst/>
          </a:prstGeom>
          <a:solidFill>
            <a:srgbClr val="3E8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710928" y="3310128"/>
            <a:ext cx="1737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2340"/>
                </a:solidFill>
              </a:rPr>
              <a:t>Application Objective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10928" y="3730752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Java/Python front end</a:t>
            </a:r>
          </a:p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CRUD, search, validation</a:t>
            </a:r>
          </a:p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Reporting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5166360"/>
            <a:ext cx="1920240" cy="347472"/>
          </a:xfrm>
          <a:prstGeom prst="roundRect">
            <a:avLst/>
          </a:prstGeom>
          <a:solidFill>
            <a:srgbClr val="E0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65B91"/>
                </a:solidFill>
              </a:rPr>
              <a:t>PRIMARY OBJECTIVE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5559552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2340"/>
                </a:solidFill>
              </a:rPr>
              <a:t>Build a centralized database that makes sports-club membership and tournament operations easier to manage, query and report.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4. Users &amp; Functional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46304"/>
            <a:ext cx="24688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CDDCEB"/>
                </a:solidFill>
              </a:rPr>
              <a:t>SRS — system actors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D6977"/>
                </a:solidFill>
              </a:rPr>
              <a:t>DBMS PBL • Project 30 • Review 1    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05840"/>
            <a:ext cx="342900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005840"/>
            <a:ext cx="73152" cy="1325880"/>
          </a:xfrm>
          <a:prstGeom prst="rect">
            <a:avLst/>
          </a:prstGeom>
          <a:solidFill>
            <a:srgbClr val="26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1115568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2340"/>
                </a:solidFill>
              </a:rPr>
              <a:t>Club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536192"/>
            <a:ext cx="3063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Members, sports, teams, coaches, facilities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005840"/>
            <a:ext cx="342900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005840"/>
            <a:ext cx="73152" cy="1325880"/>
          </a:xfrm>
          <a:prstGeom prst="rect">
            <a:avLst/>
          </a:prstGeom>
          <a:solidFill>
            <a:srgbClr val="3A9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115568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2340"/>
                </a:solidFill>
              </a:rPr>
              <a:t>Coach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536192"/>
            <a:ext cx="3063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Teams, players, training sessions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005840"/>
            <a:ext cx="342900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83880" y="1005840"/>
            <a:ext cx="73152" cy="1325880"/>
          </a:xfrm>
          <a:prstGeom prst="rect">
            <a:avLst/>
          </a:prstGeom>
          <a:solidFill>
            <a:srgbClr val="3E8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85048" y="1115568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2340"/>
                </a:solidFill>
              </a:rPr>
              <a:t>Member / Player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1536192"/>
            <a:ext cx="3063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Membership, team, training, fixtures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606040"/>
            <a:ext cx="342900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4360" y="2606040"/>
            <a:ext cx="73152" cy="1325880"/>
          </a:xfrm>
          <a:prstGeom prst="rect">
            <a:avLst/>
          </a:prstGeom>
          <a:solidFill>
            <a:srgbClr val="CD7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5528" y="2715768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2340"/>
                </a:solidFill>
              </a:rPr>
              <a:t>Tournament Manager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3136392"/>
            <a:ext cx="3063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Tournaments, participants, fixtures, results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2606040"/>
            <a:ext cx="342900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89120" y="2606040"/>
            <a:ext cx="73152" cy="1325880"/>
          </a:xfrm>
          <a:prstGeom prst="rect">
            <a:avLst/>
          </a:prstGeom>
          <a:solidFill>
            <a:srgbClr val="26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90288" y="2715768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2340"/>
                </a:solidFill>
              </a:rPr>
              <a:t>Accounts Staff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0288" y="3136392"/>
            <a:ext cx="3063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Membership payments and fee dues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80" y="2606040"/>
            <a:ext cx="342900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183880" y="2606040"/>
            <a:ext cx="73152" cy="1325880"/>
          </a:xfrm>
          <a:prstGeom prst="rect">
            <a:avLst/>
          </a:prstGeom>
          <a:solidFill>
            <a:srgbClr val="3E8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85048" y="2715768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2340"/>
                </a:solidFill>
              </a:rPr>
              <a:t>Equipment Manager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5048" y="3136392"/>
            <a:ext cx="3063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Equipment issue and returns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4434840"/>
            <a:ext cx="2560320" cy="347472"/>
          </a:xfrm>
          <a:prstGeom prst="roundRect">
            <a:avLst/>
          </a:prstGeom>
          <a:solidFill>
            <a:srgbClr val="E0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65B91"/>
                </a:solidFill>
              </a:rPr>
              <a:t>CORE FUNCTIONAL REQUIREMENTS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800600"/>
            <a:ext cx="106984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202A36"/>
                </a:solidFill>
              </a:defRPr>
            </a:pPr>
            <a:r>
              <a:t>• Register, update and search members</a:t>
            </a:r>
          </a:p>
          <a:p>
            <a:pPr>
              <a:spcAft>
                <a:spcPts val="700"/>
              </a:spcAft>
              <a:defRPr sz="1250">
                <a:solidFill>
                  <a:srgbClr val="202A36"/>
                </a:solidFill>
              </a:defRPr>
            </a:pPr>
            <a:r>
              <a:t>• Manage plans, payments and active membership</a:t>
            </a:r>
          </a:p>
          <a:p>
            <a:pPr>
              <a:spcAft>
                <a:spcPts val="700"/>
              </a:spcAft>
              <a:defRPr sz="1250">
                <a:solidFill>
                  <a:srgbClr val="202A36"/>
                </a:solidFill>
              </a:defRPr>
            </a:pPr>
            <a:r>
              <a:t>• Create sports/teams and assign coaches &amp; players</a:t>
            </a:r>
          </a:p>
          <a:p>
            <a:pPr>
              <a:spcAft>
                <a:spcPts val="700"/>
              </a:spcAft>
              <a:defRPr sz="1250">
                <a:solidFill>
                  <a:srgbClr val="202A36"/>
                </a:solidFill>
              </a:defRPr>
            </a:pPr>
            <a:r>
              <a:t>• Schedule training and book facilities</a:t>
            </a:r>
          </a:p>
          <a:p>
            <a:pPr>
              <a:spcAft>
                <a:spcPts val="700"/>
              </a:spcAft>
              <a:defRPr sz="1250">
                <a:solidFill>
                  <a:srgbClr val="202A36"/>
                </a:solidFill>
              </a:defRPr>
            </a:pPr>
            <a:r>
              <a:t>• Create tournaments and fixtures</a:t>
            </a:r>
          </a:p>
          <a:p>
            <a:pPr>
              <a:spcAft>
                <a:spcPts val="700"/>
              </a:spcAft>
              <a:defRPr sz="1250">
                <a:solidFill>
                  <a:srgbClr val="202A36"/>
                </a:solidFill>
              </a:defRPr>
            </a:pPr>
            <a:r>
              <a:t>• Enter results and generate standings</a:t>
            </a:r>
          </a:p>
          <a:p>
            <a:pPr>
              <a:spcAft>
                <a:spcPts val="700"/>
              </a:spcAft>
              <a:defRPr sz="1250">
                <a:solidFill>
                  <a:srgbClr val="202A36"/>
                </a:solidFill>
              </a:defRPr>
            </a:pPr>
            <a:r>
              <a:t>• Issue/return equipment and track overdue items</a:t>
            </a:r>
          </a:p>
          <a:p>
            <a:pPr>
              <a:spcAft>
                <a:spcPts val="700"/>
              </a:spcAft>
              <a:defRPr sz="1250">
                <a:solidFill>
                  <a:srgbClr val="202A36"/>
                </a:solidFill>
              </a:defRPr>
            </a:pPr>
            <a:r>
              <a:t>• Generate management reports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5. Software Requirements Specification (SRS)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46304"/>
            <a:ext cx="24688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CDDCEB"/>
                </a:solidFill>
              </a:rPr>
              <a:t>Initial requirements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D6977"/>
                </a:solidFill>
              </a:rPr>
              <a:t>DBMS PBL • Project 30 • Review 1    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51560"/>
            <a:ext cx="3657600" cy="2834640"/>
          </a:xfrm>
          <a:prstGeom prst="roundRect">
            <a:avLst/>
          </a:prstGeom>
          <a:solidFill>
            <a:srgbClr val="F2F6FA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051560"/>
            <a:ext cx="73152" cy="2834640"/>
          </a:xfrm>
          <a:prstGeom prst="rect">
            <a:avLst/>
          </a:prstGeom>
          <a:solidFill>
            <a:srgbClr val="26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1161288"/>
            <a:ext cx="3291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2340"/>
                </a:solidFill>
              </a:rPr>
              <a:t>Functional Requirements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581912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02A36"/>
                </a:solidFill>
              </a:defRPr>
            </a:pPr>
            <a:r>
              <a:t>• CRUD operations for core entities</a:t>
            </a:r>
          </a:p>
          <a:p>
            <a:pPr>
              <a:spcAft>
                <a:spcPts val="400"/>
              </a:spcAft>
              <a:defRPr sz="1300">
                <a:solidFill>
                  <a:srgbClr val="202A36"/>
                </a:solidFill>
              </a:defRPr>
            </a:pPr>
            <a:r>
              <a:t>• Search and filtering</a:t>
            </a:r>
          </a:p>
          <a:p>
            <a:pPr>
              <a:spcAft>
                <a:spcPts val="400"/>
              </a:spcAft>
              <a:defRPr sz="1300">
                <a:solidFill>
                  <a:srgbClr val="202A36"/>
                </a:solidFill>
              </a:defRPr>
            </a:pPr>
            <a:r>
              <a:t>• Scheduling and booking</a:t>
            </a:r>
          </a:p>
          <a:p>
            <a:pPr>
              <a:spcAft>
                <a:spcPts val="400"/>
              </a:spcAft>
              <a:defRPr sz="1300">
                <a:solidFill>
                  <a:srgbClr val="202A36"/>
                </a:solidFill>
              </a:defRPr>
            </a:pPr>
            <a:r>
              <a:t>• Fixture/result management</a:t>
            </a:r>
          </a:p>
          <a:p>
            <a:pPr>
              <a:spcAft>
                <a:spcPts val="400"/>
              </a:spcAft>
              <a:defRPr sz="1300">
                <a:solidFill>
                  <a:srgbClr val="202A36"/>
                </a:solidFill>
              </a:defRPr>
            </a:pPr>
            <a:r>
              <a:t>• Payment and equipment tracking</a:t>
            </a:r>
          </a:p>
          <a:p>
            <a:pPr>
              <a:spcAft>
                <a:spcPts val="400"/>
              </a:spcAft>
              <a:defRPr sz="1300">
                <a:solidFill>
                  <a:srgbClr val="202A36"/>
                </a:solidFill>
              </a:defRPr>
            </a:pPr>
            <a:r>
              <a:t>• Reports and standings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051560"/>
            <a:ext cx="3657600" cy="2834640"/>
          </a:xfrm>
          <a:prstGeom prst="roundRect">
            <a:avLst/>
          </a:prstGeom>
          <a:solidFill>
            <a:srgbClr val="F2F6FA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1051560"/>
            <a:ext cx="73152" cy="2834640"/>
          </a:xfrm>
          <a:prstGeom prst="rect">
            <a:avLst/>
          </a:prstGeom>
          <a:solidFill>
            <a:srgbClr val="3A9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36007" y="1161288"/>
            <a:ext cx="3291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2340"/>
                </a:solidFill>
              </a:rPr>
              <a:t>Non-Functional Requirements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1581912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02A36"/>
                </a:solidFill>
              </a:defRPr>
            </a:pPr>
            <a:r>
              <a:t>• Data integrity and consistency</a:t>
            </a:r>
          </a:p>
          <a:p>
            <a:pPr>
              <a:spcAft>
                <a:spcPts val="400"/>
              </a:spcAft>
              <a:defRPr sz="1300">
                <a:solidFill>
                  <a:srgbClr val="202A36"/>
                </a:solidFill>
              </a:defRPr>
            </a:pPr>
            <a:r>
              <a:t>• Usability and clear input validation</a:t>
            </a:r>
          </a:p>
          <a:p>
            <a:pPr>
              <a:spcAft>
                <a:spcPts val="400"/>
              </a:spcAft>
              <a:defRPr sz="1300">
                <a:solidFill>
                  <a:srgbClr val="202A36"/>
                </a:solidFill>
              </a:defRPr>
            </a:pPr>
            <a:r>
              <a:t>• Reliable transaction handling</a:t>
            </a:r>
          </a:p>
          <a:p>
            <a:pPr>
              <a:spcAft>
                <a:spcPts val="400"/>
              </a:spcAft>
              <a:defRPr sz="1300">
                <a:solidFill>
                  <a:srgbClr val="202A36"/>
                </a:solidFill>
              </a:defRPr>
            </a:pPr>
            <a:r>
              <a:t>• Fast retrieval through suitable indexes</a:t>
            </a:r>
          </a:p>
          <a:p>
            <a:pPr>
              <a:spcAft>
                <a:spcPts val="400"/>
              </a:spcAft>
              <a:defRPr sz="1300">
                <a:solidFill>
                  <a:srgbClr val="202A36"/>
                </a:solidFill>
              </a:defRPr>
            </a:pPr>
            <a:r>
              <a:t>• Maintainable modular design</a:t>
            </a:r>
          </a:p>
          <a:p>
            <a:pPr>
              <a:spcAft>
                <a:spcPts val="400"/>
              </a:spcAft>
              <a:defRPr sz="1300">
                <a:solidFill>
                  <a:srgbClr val="202A36"/>
                </a:solidFill>
              </a:defRPr>
            </a:pPr>
            <a:r>
              <a:t>• Role-based access in application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051560"/>
            <a:ext cx="3246120" cy="2834640"/>
          </a:xfrm>
          <a:prstGeom prst="roundRect">
            <a:avLst/>
          </a:prstGeom>
          <a:solidFill>
            <a:srgbClr val="F2F6FA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75320" y="1051560"/>
            <a:ext cx="73152" cy="2834640"/>
          </a:xfrm>
          <a:prstGeom prst="rect">
            <a:avLst/>
          </a:prstGeom>
          <a:solidFill>
            <a:srgbClr val="3E8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76488" y="1161288"/>
            <a:ext cx="2880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2340"/>
                </a:solidFill>
              </a:rPr>
              <a:t>Business Rules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6488" y="1581912"/>
            <a:ext cx="2880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Active membership required for participation</a:t>
            </a:r>
          </a:p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No overlapping facility/team schedules</a:t>
            </a:r>
          </a:p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Scores must be valid</a:t>
            </a:r>
          </a:p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Facility capacity must not be exceeded</a:t>
            </a:r>
          </a:p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Equipment return limits must be enforced</a:t>
            </a:r>
          </a:p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Use PK, FK, UNIQUE, NOT NULL, CHECK and DEFAULT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343400"/>
            <a:ext cx="1691640" cy="347472"/>
          </a:xfrm>
          <a:prstGeom prst="roundRect">
            <a:avLst/>
          </a:prstGeom>
          <a:solidFill>
            <a:srgbClr val="E0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65B91"/>
                </a:solidFill>
              </a:rPr>
              <a:t>TECHNOLOGY 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709160"/>
            <a:ext cx="106984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02A36"/>
                </a:solidFill>
              </a:defRPr>
            </a:pPr>
            <a:r>
              <a:t>• Database: MySQL (proposed)</a:t>
            </a:r>
          </a:p>
          <a:p>
            <a:pPr>
              <a:spcAft>
                <a:spcPts val="700"/>
              </a:spcAft>
              <a:defRPr sz="1400">
                <a:solidFill>
                  <a:srgbClr val="202A36"/>
                </a:solidFill>
              </a:defRPr>
            </a:pPr>
            <a:r>
              <a:t>• Front end: Python or Java</a:t>
            </a:r>
          </a:p>
          <a:p>
            <a:pPr>
              <a:spcAft>
                <a:spcPts val="700"/>
              </a:spcAft>
              <a:defRPr sz="1400">
                <a:solidFill>
                  <a:srgbClr val="202A36"/>
                </a:solidFill>
              </a:defRPr>
            </a:pPr>
            <a:r>
              <a:t>• ER modeling: relational conceptual design</a:t>
            </a:r>
          </a:p>
          <a:p>
            <a:pPr>
              <a:spcAft>
                <a:spcPts val="700"/>
              </a:spcAft>
              <a:defRPr sz="1400">
                <a:solidFill>
                  <a:srgbClr val="202A36"/>
                </a:solidFill>
              </a:defRPr>
            </a:pPr>
            <a:r>
              <a:t>• Testing: CRUD, constraint, conflict and validation tests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6. Conceptual Design — ER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46304"/>
            <a:ext cx="24688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CDDCEB"/>
                </a:solidFill>
              </a:rPr>
              <a:t>Principal entities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D6977"/>
                </a:solidFill>
              </a:rPr>
              <a:t>DBMS PBL • Project 30 • Review 1    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005840"/>
            <a:ext cx="160020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26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12340"/>
                </a:solidFill>
              </a:rPr>
              <a:t>MEMBER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148840"/>
            <a:ext cx="182880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26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12340"/>
                </a:solidFill>
              </a:rPr>
              <a:t>MEMBERSHIP PLAN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3291840"/>
            <a:ext cx="160020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26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12340"/>
                </a:solidFill>
              </a:rPr>
              <a:t>PAYMENT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6040" y="1005840"/>
            <a:ext cx="160020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26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12340"/>
                </a:solidFill>
              </a:rPr>
              <a:t>SPORT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06040" y="2148840"/>
            <a:ext cx="160020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26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12340"/>
                </a:solidFill>
              </a:rPr>
              <a:t>TEAM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06040" y="3291840"/>
            <a:ext cx="160020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26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12340"/>
                </a:solidFill>
              </a:rPr>
              <a:t>COACH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06040" y="4434840"/>
            <a:ext cx="182880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26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12340"/>
                </a:solidFill>
              </a:rPr>
              <a:t>TEAM MEMBER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2040" y="1005840"/>
            <a:ext cx="160020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26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12340"/>
                </a:solidFill>
              </a:rPr>
              <a:t>FACILITY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2148840"/>
            <a:ext cx="182880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26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12340"/>
                </a:solidFill>
              </a:rPr>
              <a:t>TRAINING SESSION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78040" y="1005840"/>
            <a:ext cx="160020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26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12340"/>
                </a:solidFill>
              </a:rPr>
              <a:t>TOURNAMENT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78040" y="2148840"/>
            <a:ext cx="182880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26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12340"/>
                </a:solidFill>
              </a:rPr>
              <a:t>PARTICIPANT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3291840"/>
            <a:ext cx="160020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26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12340"/>
                </a:solidFill>
              </a:rPr>
              <a:t>FIXTURE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78040" y="4434840"/>
            <a:ext cx="160020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26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12340"/>
                </a:solidFill>
              </a:rPr>
              <a:t>RESULT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55480" y="1005840"/>
            <a:ext cx="160020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26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12340"/>
                </a:solidFill>
              </a:rPr>
              <a:t>EQUIPMENT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55480" y="2148840"/>
            <a:ext cx="182880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26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12340"/>
                </a:solidFill>
              </a:rPr>
              <a:t>EQUIPMENT ISSUE</a:t>
            </a:r>
          </a:p>
        </p:txBody>
      </p:sp>
      <p:cxnSp>
        <p:nvCxnSpPr>
          <p:cNvPr id="22" name="Connector 21"/>
          <p:cNvCxnSpPr/>
          <p:nvPr/>
        </p:nvCxnSpPr>
        <p:spPr>
          <a:xfrm flipH="1" flipV="1">
            <a:off x="1211580" y="1316736"/>
            <a:ext cx="114300" cy="1143000"/>
          </a:xfrm>
          <a:prstGeom prst="line">
            <a:avLst/>
          </a:prstGeom>
          <a:ln w="15240">
            <a:solidFill>
              <a:srgbClr val="5D6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211580" y="1316736"/>
            <a:ext cx="0" cy="2286000"/>
          </a:xfrm>
          <a:prstGeom prst="line">
            <a:avLst/>
          </a:prstGeom>
          <a:ln w="15240">
            <a:solidFill>
              <a:srgbClr val="5D6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406140" y="1316736"/>
            <a:ext cx="0" cy="1143000"/>
          </a:xfrm>
          <a:prstGeom prst="line">
            <a:avLst/>
          </a:prstGeom>
          <a:ln w="15240">
            <a:solidFill>
              <a:srgbClr val="5D6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406140" y="2459736"/>
            <a:ext cx="0" cy="1143000"/>
          </a:xfrm>
          <a:prstGeom prst="line">
            <a:avLst/>
          </a:prstGeom>
          <a:ln w="15240">
            <a:solidFill>
              <a:srgbClr val="5D6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406140" y="2459736"/>
            <a:ext cx="114300" cy="2286000"/>
          </a:xfrm>
          <a:prstGeom prst="line">
            <a:avLst/>
          </a:prstGeom>
          <a:ln w="15240">
            <a:solidFill>
              <a:srgbClr val="5D6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211580" y="1316736"/>
            <a:ext cx="2308860" cy="3429000"/>
          </a:xfrm>
          <a:prstGeom prst="line">
            <a:avLst/>
          </a:prstGeom>
          <a:ln w="15240">
            <a:solidFill>
              <a:srgbClr val="5D6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92140" y="1316736"/>
            <a:ext cx="114300" cy="1143000"/>
          </a:xfrm>
          <a:prstGeom prst="line">
            <a:avLst/>
          </a:prstGeom>
          <a:ln w="15240">
            <a:solidFill>
              <a:srgbClr val="5D6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406140" y="2459736"/>
            <a:ext cx="2400300" cy="0"/>
          </a:xfrm>
          <a:prstGeom prst="line">
            <a:avLst/>
          </a:prstGeom>
          <a:ln w="15240">
            <a:solidFill>
              <a:srgbClr val="5D6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406140" y="2459736"/>
            <a:ext cx="2400300" cy="1143000"/>
          </a:xfrm>
          <a:prstGeom prst="line">
            <a:avLst/>
          </a:prstGeom>
          <a:ln w="15240">
            <a:solidFill>
              <a:srgbClr val="5D6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406140" y="1316736"/>
            <a:ext cx="4572000" cy="0"/>
          </a:xfrm>
          <a:prstGeom prst="line">
            <a:avLst/>
          </a:prstGeom>
          <a:ln w="15240">
            <a:solidFill>
              <a:srgbClr val="5D6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978140" y="1316736"/>
            <a:ext cx="114300" cy="1143000"/>
          </a:xfrm>
          <a:prstGeom prst="line">
            <a:avLst/>
          </a:prstGeom>
          <a:ln w="15240">
            <a:solidFill>
              <a:srgbClr val="5D6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406140" y="2459736"/>
            <a:ext cx="4686300" cy="0"/>
          </a:xfrm>
          <a:prstGeom prst="line">
            <a:avLst/>
          </a:prstGeom>
          <a:ln w="15240">
            <a:solidFill>
              <a:srgbClr val="5D6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978140" y="1316736"/>
            <a:ext cx="0" cy="2286000"/>
          </a:xfrm>
          <a:prstGeom prst="line">
            <a:avLst/>
          </a:prstGeom>
          <a:ln w="15240">
            <a:solidFill>
              <a:srgbClr val="5D6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06140" y="2459736"/>
            <a:ext cx="4572000" cy="1143000"/>
          </a:xfrm>
          <a:prstGeom prst="line">
            <a:avLst/>
          </a:prstGeom>
          <a:ln w="15240">
            <a:solidFill>
              <a:srgbClr val="5D6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692140" y="1316736"/>
            <a:ext cx="2286000" cy="2286000"/>
          </a:xfrm>
          <a:prstGeom prst="line">
            <a:avLst/>
          </a:prstGeom>
          <a:ln w="15240">
            <a:solidFill>
              <a:srgbClr val="5D6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978140" y="3602736"/>
            <a:ext cx="0" cy="1143000"/>
          </a:xfrm>
          <a:prstGeom prst="line">
            <a:avLst/>
          </a:prstGeom>
          <a:ln w="15240">
            <a:solidFill>
              <a:srgbClr val="5D6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211580" y="1316736"/>
            <a:ext cx="9258300" cy="1143000"/>
          </a:xfrm>
          <a:prstGeom prst="line">
            <a:avLst/>
          </a:prstGeom>
          <a:ln w="15240">
            <a:solidFill>
              <a:srgbClr val="5D6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0355580" y="1316736"/>
            <a:ext cx="114300" cy="1143000"/>
          </a:xfrm>
          <a:prstGeom prst="line">
            <a:avLst/>
          </a:prstGeom>
          <a:ln w="15240">
            <a:solidFill>
              <a:srgbClr val="5D6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57200" y="562356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D6977"/>
                </a:solidFill>
              </a:rPr>
              <a:t>Note: TEAM_MEMBER resolves the M:N Member–Team relationship. PARTICIPANT links tournament participation to a team.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B4187353-0982-7BA9-13E9-11498E01A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7. ER Design — Key Relationships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46304"/>
            <a:ext cx="24688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CDDCEB"/>
                </a:solidFill>
              </a:rPr>
              <a:t>Cardinality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D6977"/>
                </a:solidFill>
              </a:rPr>
              <a:t>DBMS PBL • Project 30 • Review 1     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60120"/>
            <a:ext cx="3429000" cy="1353312"/>
          </a:xfrm>
          <a:prstGeom prst="roundRect">
            <a:avLst/>
          </a:prstGeom>
          <a:solidFill>
            <a:srgbClr val="F2F6FA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960120"/>
            <a:ext cx="73152" cy="1353312"/>
          </a:xfrm>
          <a:prstGeom prst="rect">
            <a:avLst/>
          </a:prstGeom>
          <a:solidFill>
            <a:srgbClr val="26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1069848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2340"/>
                </a:solidFill>
              </a:rPr>
              <a:t>Membership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490472"/>
            <a:ext cx="3063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PLAN 1 : M MEMBER</a:t>
            </a:r>
          </a:p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One plan can serve many members.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960120"/>
            <a:ext cx="3429000" cy="1353312"/>
          </a:xfrm>
          <a:prstGeom prst="roundRect">
            <a:avLst/>
          </a:prstGeom>
          <a:solidFill>
            <a:srgbClr val="F2F6FA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960120"/>
            <a:ext cx="73152" cy="1353312"/>
          </a:xfrm>
          <a:prstGeom prst="rect">
            <a:avLst/>
          </a:prstGeom>
          <a:solidFill>
            <a:srgbClr val="3A9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069848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2340"/>
                </a:solidFill>
              </a:rPr>
              <a:t>Payments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490472"/>
            <a:ext cx="3063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MEMBER 1 : M PAYMENT</a:t>
            </a:r>
          </a:p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A member can make multiple payments.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960120"/>
            <a:ext cx="3429000" cy="1353312"/>
          </a:xfrm>
          <a:prstGeom prst="roundRect">
            <a:avLst/>
          </a:prstGeom>
          <a:solidFill>
            <a:srgbClr val="F2F6FA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83880" y="960120"/>
            <a:ext cx="73152" cy="1353312"/>
          </a:xfrm>
          <a:prstGeom prst="rect">
            <a:avLst/>
          </a:prstGeom>
          <a:solidFill>
            <a:srgbClr val="3E8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85048" y="1069848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2340"/>
                </a:solidFill>
              </a:rPr>
              <a:t>Teams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1490472"/>
            <a:ext cx="3063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SPORT 1 : M TEAM</a:t>
            </a:r>
          </a:p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A sport can contain multiple teams.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587752"/>
            <a:ext cx="3429000" cy="1353312"/>
          </a:xfrm>
          <a:prstGeom prst="roundRect">
            <a:avLst/>
          </a:prstGeom>
          <a:solidFill>
            <a:srgbClr val="F2F6FA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4360" y="2587752"/>
            <a:ext cx="73152" cy="1353312"/>
          </a:xfrm>
          <a:prstGeom prst="rect">
            <a:avLst/>
          </a:prstGeom>
          <a:solidFill>
            <a:srgbClr val="26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5528" y="2697480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2340"/>
                </a:solidFill>
              </a:rPr>
              <a:t>Players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3118104"/>
            <a:ext cx="3063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TEAM M : N MEMBER</a:t>
            </a:r>
          </a:p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Resolved through TEAM_MEMBER.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2587752"/>
            <a:ext cx="3429000" cy="1353312"/>
          </a:xfrm>
          <a:prstGeom prst="roundRect">
            <a:avLst/>
          </a:prstGeom>
          <a:solidFill>
            <a:srgbClr val="F2F6FA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89120" y="2587752"/>
            <a:ext cx="73152" cy="1353312"/>
          </a:xfrm>
          <a:prstGeom prst="rect">
            <a:avLst/>
          </a:prstGeom>
          <a:solidFill>
            <a:srgbClr val="3A9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90288" y="2697480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2340"/>
                </a:solidFill>
              </a:rPr>
              <a:t>Training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0288" y="3118104"/>
            <a:ext cx="3063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TEAM 1 : M TRAINING</a:t>
            </a:r>
          </a:p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A team has multiple sessions.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80" y="2587752"/>
            <a:ext cx="3429000" cy="1353312"/>
          </a:xfrm>
          <a:prstGeom prst="roundRect">
            <a:avLst/>
          </a:prstGeom>
          <a:solidFill>
            <a:srgbClr val="F2F6FA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183880" y="2587752"/>
            <a:ext cx="73152" cy="1353312"/>
          </a:xfrm>
          <a:prstGeom prst="rect">
            <a:avLst/>
          </a:prstGeom>
          <a:solidFill>
            <a:srgbClr val="3E8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85048" y="2697480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2340"/>
                </a:solidFill>
              </a:rPr>
              <a:t>Facilities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5048" y="3118104"/>
            <a:ext cx="3063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FACILITY 1 : M TRAINING</a:t>
            </a:r>
          </a:p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A facility hosts sessions at different times.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4215384"/>
            <a:ext cx="3429000" cy="1353312"/>
          </a:xfrm>
          <a:prstGeom prst="roundRect">
            <a:avLst/>
          </a:prstGeom>
          <a:solidFill>
            <a:srgbClr val="F2F6FA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94360" y="4215384"/>
            <a:ext cx="73152" cy="1353312"/>
          </a:xfrm>
          <a:prstGeom prst="rect">
            <a:avLst/>
          </a:prstGeom>
          <a:solidFill>
            <a:srgbClr val="26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95528" y="432511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2340"/>
                </a:solidFill>
              </a:rPr>
              <a:t>Tournaments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8" y="4745736"/>
            <a:ext cx="3063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TOURNAMENT 1 : M FIXTURE</a:t>
            </a:r>
          </a:p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Each tournament contains multiple fixtures.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89120" y="4215384"/>
            <a:ext cx="3429000" cy="1353312"/>
          </a:xfrm>
          <a:prstGeom prst="roundRect">
            <a:avLst/>
          </a:prstGeom>
          <a:solidFill>
            <a:srgbClr val="F2F6FA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389120" y="4215384"/>
            <a:ext cx="73152" cy="1353312"/>
          </a:xfrm>
          <a:prstGeom prst="rect">
            <a:avLst/>
          </a:prstGeom>
          <a:solidFill>
            <a:srgbClr val="3A9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90288" y="432511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2340"/>
                </a:solidFill>
              </a:rPr>
              <a:t>Results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90288" y="4745736"/>
            <a:ext cx="3063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FIXTURE 1 : 1 RESULT</a:t>
            </a:r>
          </a:p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A completed fixture records its result.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83880" y="4215384"/>
            <a:ext cx="3429000" cy="1353312"/>
          </a:xfrm>
          <a:prstGeom prst="roundRect">
            <a:avLst/>
          </a:prstGeom>
          <a:solidFill>
            <a:srgbClr val="F2F6FA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183880" y="4215384"/>
            <a:ext cx="73152" cy="1353312"/>
          </a:xfrm>
          <a:prstGeom prst="rect">
            <a:avLst/>
          </a:prstGeom>
          <a:solidFill>
            <a:srgbClr val="3E8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385048" y="432511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2340"/>
                </a:solidFill>
              </a:rPr>
              <a:t>Equipment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5048" y="4745736"/>
            <a:ext cx="3063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MEMBER 1 : M ISSUE</a:t>
            </a:r>
          </a:p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A member can have multiple issue records.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" y="5897880"/>
            <a:ext cx="1280160" cy="347472"/>
          </a:xfrm>
          <a:prstGeom prst="roundRect">
            <a:avLst/>
          </a:prstGeom>
          <a:solidFill>
            <a:srgbClr val="E0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65B91"/>
                </a:solidFill>
              </a:rPr>
              <a:t>DESIGN NOTE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580644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02A36"/>
                </a:solidFill>
              </a:rPr>
              <a:t>Associative entities keep many-to-many relationships explicit and support later normalization.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8. Initial Relational Schema — Core Tables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46304"/>
            <a:ext cx="24688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CDDCEB"/>
                </a:solidFill>
              </a:rPr>
              <a:t>PK = Primary Key • FK = Foreign Key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D6977"/>
                </a:solidFill>
              </a:rPr>
              <a:t>DBMS PBL • Project 30 • Review 1    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960120"/>
            <a:ext cx="2606040" cy="2057400"/>
          </a:xfrm>
          <a:prstGeom prst="roundRect">
            <a:avLst/>
          </a:prstGeom>
          <a:solidFill>
            <a:srgbClr val="F2F6FA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960120"/>
            <a:ext cx="73152" cy="2057400"/>
          </a:xfrm>
          <a:prstGeom prst="rect">
            <a:avLst/>
          </a:prstGeom>
          <a:solidFill>
            <a:srgbClr val="26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069848"/>
            <a:ext cx="2240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2340"/>
                </a:solidFill>
              </a:rPr>
              <a:t>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490472"/>
            <a:ext cx="2240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20">
                <a:solidFill>
                  <a:srgbClr val="202A36"/>
                </a:solidFill>
              </a:defRPr>
            </a:pPr>
            <a:r>
              <a:t>• Member_ID (PK)</a:t>
            </a:r>
          </a:p>
          <a:p>
            <a:pPr>
              <a:spcAft>
                <a:spcPts val="400"/>
              </a:spcAft>
              <a:defRPr sz="1120">
                <a:solidFill>
                  <a:srgbClr val="202A36"/>
                </a:solidFill>
              </a:defRPr>
            </a:pPr>
            <a:r>
              <a:t>• Name, DOB, Gender</a:t>
            </a:r>
          </a:p>
          <a:p>
            <a:pPr>
              <a:spcAft>
                <a:spcPts val="400"/>
              </a:spcAft>
              <a:defRPr sz="1120">
                <a:solidFill>
                  <a:srgbClr val="202A36"/>
                </a:solidFill>
              </a:defRPr>
            </a:pPr>
            <a:r>
              <a:t>• Phone, Email</a:t>
            </a:r>
          </a:p>
          <a:p>
            <a:pPr>
              <a:spcAft>
                <a:spcPts val="400"/>
              </a:spcAft>
              <a:defRPr sz="1120">
                <a:solidFill>
                  <a:srgbClr val="202A36"/>
                </a:solidFill>
              </a:defRPr>
            </a:pPr>
            <a:r>
              <a:t>• Join_Date, Status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960120"/>
            <a:ext cx="2606040" cy="2057400"/>
          </a:xfrm>
          <a:prstGeom prst="roundRect">
            <a:avLst/>
          </a:prstGeom>
          <a:solidFill>
            <a:srgbClr val="F2F6FA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83280" y="960120"/>
            <a:ext cx="73152" cy="2057400"/>
          </a:xfrm>
          <a:prstGeom prst="rect">
            <a:avLst/>
          </a:prstGeom>
          <a:solidFill>
            <a:srgbClr val="3A9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84448" y="1069848"/>
            <a:ext cx="2240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2340"/>
                </a:solidFill>
              </a:rPr>
              <a:t>MEMBERSHIP_PLAN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1490472"/>
            <a:ext cx="2240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20">
                <a:solidFill>
                  <a:srgbClr val="202A36"/>
                </a:solidFill>
              </a:defRPr>
            </a:pPr>
            <a:r>
              <a:t>• Plan_ID (PK)</a:t>
            </a:r>
          </a:p>
          <a:p>
            <a:pPr>
              <a:spcAft>
                <a:spcPts val="400"/>
              </a:spcAft>
              <a:defRPr sz="1120">
                <a:solidFill>
                  <a:srgbClr val="202A36"/>
                </a:solidFill>
              </a:defRPr>
            </a:pPr>
            <a:r>
              <a:t>• Plan_Name</a:t>
            </a:r>
          </a:p>
          <a:p>
            <a:pPr>
              <a:spcAft>
                <a:spcPts val="400"/>
              </a:spcAft>
              <a:defRPr sz="1120">
                <a:solidFill>
                  <a:srgbClr val="202A36"/>
                </a:solidFill>
              </a:defRPr>
            </a:pPr>
            <a:r>
              <a:t>• Duration, Fee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960120"/>
            <a:ext cx="2606040" cy="2057400"/>
          </a:xfrm>
          <a:prstGeom prst="roundRect">
            <a:avLst/>
          </a:prstGeom>
          <a:solidFill>
            <a:srgbClr val="F2F6FA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63640" y="960120"/>
            <a:ext cx="73152" cy="2057400"/>
          </a:xfrm>
          <a:prstGeom prst="rect">
            <a:avLst/>
          </a:prstGeom>
          <a:solidFill>
            <a:srgbClr val="3E8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64807" y="1069848"/>
            <a:ext cx="2240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2340"/>
                </a:solidFill>
              </a:rPr>
              <a:t>PAYMENT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7" y="1490472"/>
            <a:ext cx="2240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20">
                <a:solidFill>
                  <a:srgbClr val="202A36"/>
                </a:solidFill>
              </a:defRPr>
            </a:pPr>
            <a:r>
              <a:t>• Payment_ID (PK)</a:t>
            </a:r>
          </a:p>
          <a:p>
            <a:pPr>
              <a:spcAft>
                <a:spcPts val="400"/>
              </a:spcAft>
              <a:defRPr sz="1120">
                <a:solidFill>
                  <a:srgbClr val="202A36"/>
                </a:solidFill>
              </a:defRPr>
            </a:pPr>
            <a:r>
              <a:t>• Member_ID (FK)</a:t>
            </a:r>
          </a:p>
          <a:p>
            <a:pPr>
              <a:spcAft>
                <a:spcPts val="400"/>
              </a:spcAft>
              <a:defRPr sz="1120">
                <a:solidFill>
                  <a:srgbClr val="202A36"/>
                </a:solidFill>
              </a:defRPr>
            </a:pPr>
            <a:r>
              <a:t>• Plan_ID (FK)</a:t>
            </a:r>
          </a:p>
          <a:p>
            <a:pPr>
              <a:spcAft>
                <a:spcPts val="400"/>
              </a:spcAft>
              <a:defRPr sz="1120">
                <a:solidFill>
                  <a:srgbClr val="202A36"/>
                </a:solidFill>
              </a:defRPr>
            </a:pPr>
            <a:r>
              <a:t>• Amount, Date, Status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960120"/>
            <a:ext cx="2606040" cy="2057400"/>
          </a:xfrm>
          <a:prstGeom prst="roundRect">
            <a:avLst/>
          </a:prstGeom>
          <a:solidFill>
            <a:srgbClr val="F2F6FA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44000" y="960120"/>
            <a:ext cx="73152" cy="2057400"/>
          </a:xfrm>
          <a:prstGeom prst="rect">
            <a:avLst/>
          </a:prstGeom>
          <a:solidFill>
            <a:srgbClr val="CD7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45168" y="1069848"/>
            <a:ext cx="2240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2340"/>
                </a:solidFill>
              </a:rPr>
              <a:t>SPORT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45168" y="1490472"/>
            <a:ext cx="2240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20">
                <a:solidFill>
                  <a:srgbClr val="202A36"/>
                </a:solidFill>
              </a:defRPr>
            </a:pPr>
            <a:r>
              <a:t>• Sport_ID (PK)</a:t>
            </a:r>
          </a:p>
          <a:p>
            <a:pPr>
              <a:spcAft>
                <a:spcPts val="400"/>
              </a:spcAft>
              <a:defRPr sz="1120">
                <a:solidFill>
                  <a:srgbClr val="202A36"/>
                </a:solidFill>
              </a:defRPr>
            </a:pPr>
            <a:r>
              <a:t>• Sport_Name</a:t>
            </a:r>
          </a:p>
          <a:p>
            <a:pPr>
              <a:spcAft>
                <a:spcPts val="400"/>
              </a:spcAft>
              <a:defRPr sz="1120">
                <a:solidFill>
                  <a:srgbClr val="202A36"/>
                </a:solidFill>
              </a:defRPr>
            </a:pPr>
            <a:r>
              <a:t>• Category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429000"/>
            <a:ext cx="2606040" cy="2057400"/>
          </a:xfrm>
          <a:prstGeom prst="roundRect">
            <a:avLst/>
          </a:prstGeom>
          <a:solidFill>
            <a:srgbClr val="F2F6FA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02920" y="3429000"/>
            <a:ext cx="73152" cy="2057400"/>
          </a:xfrm>
          <a:prstGeom prst="rect">
            <a:avLst/>
          </a:prstGeom>
          <a:solidFill>
            <a:srgbClr val="26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4088" y="3538728"/>
            <a:ext cx="2240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2340"/>
                </a:solidFill>
              </a:rPr>
              <a:t>COACH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" y="3959352"/>
            <a:ext cx="2240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20">
                <a:solidFill>
                  <a:srgbClr val="202A36"/>
                </a:solidFill>
              </a:defRPr>
            </a:pPr>
            <a:r>
              <a:t>• Coach_ID (PK)</a:t>
            </a:r>
          </a:p>
          <a:p>
            <a:pPr>
              <a:spcAft>
                <a:spcPts val="400"/>
              </a:spcAft>
              <a:defRPr sz="1120">
                <a:solidFill>
                  <a:srgbClr val="202A36"/>
                </a:solidFill>
              </a:defRPr>
            </a:pPr>
            <a:r>
              <a:t>• Coach_Name</a:t>
            </a:r>
          </a:p>
          <a:p>
            <a:pPr>
              <a:spcAft>
                <a:spcPts val="400"/>
              </a:spcAft>
              <a:defRPr sz="1120">
                <a:solidFill>
                  <a:srgbClr val="202A36"/>
                </a:solidFill>
              </a:defRPr>
            </a:pPr>
            <a:r>
              <a:t>• Phone, Specialization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83280" y="3429000"/>
            <a:ext cx="2606040" cy="2057400"/>
          </a:xfrm>
          <a:prstGeom prst="roundRect">
            <a:avLst/>
          </a:prstGeom>
          <a:solidFill>
            <a:srgbClr val="F2F6FA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383280" y="3429000"/>
            <a:ext cx="73152" cy="2057400"/>
          </a:xfrm>
          <a:prstGeom prst="rect">
            <a:avLst/>
          </a:prstGeom>
          <a:solidFill>
            <a:srgbClr val="3A9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584448" y="3538728"/>
            <a:ext cx="2240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2340"/>
                </a:solidFill>
              </a:rPr>
              <a:t>TEAM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84448" y="3959352"/>
            <a:ext cx="2240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20">
                <a:solidFill>
                  <a:srgbClr val="202A36"/>
                </a:solidFill>
              </a:defRPr>
            </a:pPr>
            <a:r>
              <a:t>• Team_ID (PK)</a:t>
            </a:r>
          </a:p>
          <a:p>
            <a:pPr>
              <a:spcAft>
                <a:spcPts val="400"/>
              </a:spcAft>
              <a:defRPr sz="1120">
                <a:solidFill>
                  <a:srgbClr val="202A36"/>
                </a:solidFill>
              </a:defRPr>
            </a:pPr>
            <a:r>
              <a:t>• Team_Name</a:t>
            </a:r>
          </a:p>
          <a:p>
            <a:pPr>
              <a:spcAft>
                <a:spcPts val="400"/>
              </a:spcAft>
              <a:defRPr sz="1120">
                <a:solidFill>
                  <a:srgbClr val="202A36"/>
                </a:solidFill>
              </a:defRPr>
            </a:pPr>
            <a:r>
              <a:t>• Sport_ID (FK)</a:t>
            </a:r>
          </a:p>
          <a:p>
            <a:pPr>
              <a:spcAft>
                <a:spcPts val="400"/>
              </a:spcAft>
              <a:defRPr sz="1120">
                <a:solidFill>
                  <a:srgbClr val="202A36"/>
                </a:solidFill>
              </a:defRPr>
            </a:pPr>
            <a:r>
              <a:t>• Coach_ID (FK)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3429000"/>
            <a:ext cx="2606040" cy="2057400"/>
          </a:xfrm>
          <a:prstGeom prst="roundRect">
            <a:avLst/>
          </a:prstGeom>
          <a:solidFill>
            <a:srgbClr val="F2F6FA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63640" y="3429000"/>
            <a:ext cx="73152" cy="2057400"/>
          </a:xfrm>
          <a:prstGeom prst="rect">
            <a:avLst/>
          </a:prstGeom>
          <a:solidFill>
            <a:srgbClr val="3E8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64807" y="3538728"/>
            <a:ext cx="2240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2340"/>
                </a:solidFill>
              </a:rPr>
              <a:t>TEAM_MEMBER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64807" y="3959352"/>
            <a:ext cx="2240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20">
                <a:solidFill>
                  <a:srgbClr val="202A36"/>
                </a:solidFill>
              </a:defRPr>
            </a:pPr>
            <a:r>
              <a:t>• Team_ID (PK, FK)</a:t>
            </a:r>
          </a:p>
          <a:p>
            <a:pPr>
              <a:spcAft>
                <a:spcPts val="400"/>
              </a:spcAft>
              <a:defRPr sz="1120">
                <a:solidFill>
                  <a:srgbClr val="202A36"/>
                </a:solidFill>
              </a:defRPr>
            </a:pPr>
            <a:r>
              <a:t>• Member_ID (PK, FK)</a:t>
            </a:r>
          </a:p>
          <a:p>
            <a:pPr>
              <a:spcAft>
                <a:spcPts val="400"/>
              </a:spcAft>
              <a:defRPr sz="1120">
                <a:solidFill>
                  <a:srgbClr val="202A36"/>
                </a:solidFill>
              </a:defRPr>
            </a:pPr>
            <a:r>
              <a:t>• Join_Date, Role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59893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D6977"/>
                </a:solidFill>
              </a:rPr>
              <a:t>Relationships: PAYMENT → MEMBER / PLAN • TEAM → SPORT / COACH • TEAM_MEMBER → TEAM / MEMBER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8. Initial Relational Schema — Operations Tables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46304"/>
            <a:ext cx="24688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CDDCEB"/>
                </a:solidFill>
              </a:rPr>
              <a:t>Proposed tables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D6977"/>
                </a:solidFill>
              </a:rPr>
              <a:t>DBMS PBL • Project 30 • Review 1    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914400"/>
            <a:ext cx="2606040" cy="2057400"/>
          </a:xfrm>
          <a:prstGeom prst="roundRect">
            <a:avLst/>
          </a:prstGeom>
          <a:solidFill>
            <a:srgbClr val="F2F6FA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914400"/>
            <a:ext cx="73152" cy="2057400"/>
          </a:xfrm>
          <a:prstGeom prst="rect">
            <a:avLst/>
          </a:prstGeom>
          <a:solidFill>
            <a:srgbClr val="26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024128"/>
            <a:ext cx="2240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2340"/>
                </a:solidFill>
              </a:rPr>
              <a:t>FACILITY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444752"/>
            <a:ext cx="2240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60">
                <a:solidFill>
                  <a:srgbClr val="202A36"/>
                </a:solidFill>
              </a:defRPr>
            </a:pPr>
            <a:r>
              <a:t>• Facility_ID (PK)</a:t>
            </a:r>
          </a:p>
          <a:p>
            <a:pPr>
              <a:spcAft>
                <a:spcPts val="400"/>
              </a:spcAft>
              <a:defRPr sz="1060">
                <a:solidFill>
                  <a:srgbClr val="202A36"/>
                </a:solidFill>
              </a:defRPr>
            </a:pPr>
            <a:r>
              <a:t>• Name, Location</a:t>
            </a:r>
          </a:p>
          <a:p>
            <a:pPr>
              <a:spcAft>
                <a:spcPts val="400"/>
              </a:spcAft>
              <a:defRPr sz="1060">
                <a:solidFill>
                  <a:srgbClr val="202A36"/>
                </a:solidFill>
              </a:defRPr>
            </a:pPr>
            <a:r>
              <a:t>• Capacity, Type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914400"/>
            <a:ext cx="2606040" cy="2057400"/>
          </a:xfrm>
          <a:prstGeom prst="roundRect">
            <a:avLst/>
          </a:prstGeom>
          <a:solidFill>
            <a:srgbClr val="F2F6FA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83280" y="914400"/>
            <a:ext cx="73152" cy="2057400"/>
          </a:xfrm>
          <a:prstGeom prst="rect">
            <a:avLst/>
          </a:prstGeom>
          <a:solidFill>
            <a:srgbClr val="3A9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84448" y="1024128"/>
            <a:ext cx="2240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2340"/>
                </a:solidFill>
              </a:rPr>
              <a:t>TRAINING_SESSION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1444752"/>
            <a:ext cx="2240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60">
                <a:solidFill>
                  <a:srgbClr val="202A36"/>
                </a:solidFill>
              </a:defRPr>
            </a:pPr>
            <a:r>
              <a:t>• Training_ID (PK)</a:t>
            </a:r>
          </a:p>
          <a:p>
            <a:pPr>
              <a:spcAft>
                <a:spcPts val="400"/>
              </a:spcAft>
              <a:defRPr sz="1060">
                <a:solidFill>
                  <a:srgbClr val="202A36"/>
                </a:solidFill>
              </a:defRPr>
            </a:pPr>
            <a:r>
              <a:t>• Team_ID (FK)</a:t>
            </a:r>
          </a:p>
          <a:p>
            <a:pPr>
              <a:spcAft>
                <a:spcPts val="400"/>
              </a:spcAft>
              <a:defRPr sz="1060">
                <a:solidFill>
                  <a:srgbClr val="202A36"/>
                </a:solidFill>
              </a:defRPr>
            </a:pPr>
            <a:r>
              <a:t>• Coach_ID (FK)</a:t>
            </a:r>
          </a:p>
          <a:p>
            <a:pPr>
              <a:spcAft>
                <a:spcPts val="400"/>
              </a:spcAft>
              <a:defRPr sz="1060">
                <a:solidFill>
                  <a:srgbClr val="202A36"/>
                </a:solidFill>
              </a:defRPr>
            </a:pPr>
            <a:r>
              <a:t>• Facility_ID (FK)</a:t>
            </a:r>
          </a:p>
          <a:p>
            <a:pPr>
              <a:spcAft>
                <a:spcPts val="400"/>
              </a:spcAft>
              <a:defRPr sz="1060">
                <a:solidFill>
                  <a:srgbClr val="202A36"/>
                </a:solidFill>
              </a:defRPr>
            </a:pPr>
            <a:r>
              <a:t>• Date, Start, 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914400"/>
            <a:ext cx="2606040" cy="2057400"/>
          </a:xfrm>
          <a:prstGeom prst="roundRect">
            <a:avLst/>
          </a:prstGeom>
          <a:solidFill>
            <a:srgbClr val="F2F6FA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63640" y="914400"/>
            <a:ext cx="73152" cy="2057400"/>
          </a:xfrm>
          <a:prstGeom prst="rect">
            <a:avLst/>
          </a:prstGeom>
          <a:solidFill>
            <a:srgbClr val="3E8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64807" y="1024128"/>
            <a:ext cx="2240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2340"/>
                </a:solidFill>
              </a:rPr>
              <a:t>TOURNAMENT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7" y="1444752"/>
            <a:ext cx="2240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60">
                <a:solidFill>
                  <a:srgbClr val="202A36"/>
                </a:solidFill>
              </a:defRPr>
            </a:pPr>
            <a:r>
              <a:t>• Tournament_ID (PK)</a:t>
            </a:r>
          </a:p>
          <a:p>
            <a:pPr>
              <a:spcAft>
                <a:spcPts val="400"/>
              </a:spcAft>
              <a:defRPr sz="1060">
                <a:solidFill>
                  <a:srgbClr val="202A36"/>
                </a:solidFill>
              </a:defRPr>
            </a:pPr>
            <a:r>
              <a:t>• Name, Sport_ID (FK)</a:t>
            </a:r>
          </a:p>
          <a:p>
            <a:pPr>
              <a:spcAft>
                <a:spcPts val="400"/>
              </a:spcAft>
              <a:defRPr sz="1060">
                <a:solidFill>
                  <a:srgbClr val="202A36"/>
                </a:solidFill>
              </a:defRPr>
            </a:pPr>
            <a:r>
              <a:t>• Start_Date, End_Date</a:t>
            </a:r>
          </a:p>
          <a:p>
            <a:pPr>
              <a:spcAft>
                <a:spcPts val="400"/>
              </a:spcAft>
              <a:defRPr sz="1060">
                <a:solidFill>
                  <a:srgbClr val="202A36"/>
                </a:solidFill>
              </a:defRPr>
            </a:pPr>
            <a:r>
              <a:t>• Location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914400"/>
            <a:ext cx="2606040" cy="2057400"/>
          </a:xfrm>
          <a:prstGeom prst="roundRect">
            <a:avLst/>
          </a:prstGeom>
          <a:solidFill>
            <a:srgbClr val="F2F6FA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44000" y="914400"/>
            <a:ext cx="73152" cy="2057400"/>
          </a:xfrm>
          <a:prstGeom prst="rect">
            <a:avLst/>
          </a:prstGeom>
          <a:solidFill>
            <a:srgbClr val="CD7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45168" y="1024128"/>
            <a:ext cx="2240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2340"/>
                </a:solidFill>
              </a:rPr>
              <a:t>PARTICIPANT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45168" y="1444752"/>
            <a:ext cx="2240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60">
                <a:solidFill>
                  <a:srgbClr val="202A36"/>
                </a:solidFill>
              </a:defRPr>
            </a:pPr>
            <a:r>
              <a:t>• Participant_ID (PK)</a:t>
            </a:r>
          </a:p>
          <a:p>
            <a:pPr>
              <a:spcAft>
                <a:spcPts val="400"/>
              </a:spcAft>
              <a:defRPr sz="1060">
                <a:solidFill>
                  <a:srgbClr val="202A36"/>
                </a:solidFill>
              </a:defRPr>
            </a:pPr>
            <a:r>
              <a:t>• Tournament_ID (FK)</a:t>
            </a:r>
          </a:p>
          <a:p>
            <a:pPr>
              <a:spcAft>
                <a:spcPts val="400"/>
              </a:spcAft>
              <a:defRPr sz="1060">
                <a:solidFill>
                  <a:srgbClr val="202A36"/>
                </a:solidFill>
              </a:defRPr>
            </a:pPr>
            <a:r>
              <a:t>• Team_ID (FK)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383280"/>
            <a:ext cx="2606040" cy="2057400"/>
          </a:xfrm>
          <a:prstGeom prst="roundRect">
            <a:avLst/>
          </a:prstGeom>
          <a:solidFill>
            <a:srgbClr val="F2F6FA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02920" y="3383280"/>
            <a:ext cx="73152" cy="2057400"/>
          </a:xfrm>
          <a:prstGeom prst="rect">
            <a:avLst/>
          </a:prstGeom>
          <a:solidFill>
            <a:srgbClr val="26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4088" y="3493008"/>
            <a:ext cx="2240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2340"/>
                </a:solidFill>
              </a:rPr>
              <a:t>FIXTURE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" y="3913632"/>
            <a:ext cx="2240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60">
                <a:solidFill>
                  <a:srgbClr val="202A36"/>
                </a:solidFill>
              </a:defRPr>
            </a:pPr>
            <a:r>
              <a:t>• Fixture_ID (PK)</a:t>
            </a:r>
          </a:p>
          <a:p>
            <a:pPr>
              <a:spcAft>
                <a:spcPts val="400"/>
              </a:spcAft>
              <a:defRPr sz="1060">
                <a:solidFill>
                  <a:srgbClr val="202A36"/>
                </a:solidFill>
              </a:defRPr>
            </a:pPr>
            <a:r>
              <a:t>• Tournament_ID (FK)</a:t>
            </a:r>
          </a:p>
          <a:p>
            <a:pPr>
              <a:spcAft>
                <a:spcPts val="400"/>
              </a:spcAft>
              <a:defRPr sz="1060">
                <a:solidFill>
                  <a:srgbClr val="202A36"/>
                </a:solidFill>
              </a:defRPr>
            </a:pPr>
            <a:r>
              <a:t>• Team1_ID / Team2_ID (FK)</a:t>
            </a:r>
          </a:p>
          <a:p>
            <a:pPr>
              <a:spcAft>
                <a:spcPts val="400"/>
              </a:spcAft>
              <a:defRPr sz="1060">
                <a:solidFill>
                  <a:srgbClr val="202A36"/>
                </a:solidFill>
              </a:defRPr>
            </a:pPr>
            <a:r>
              <a:t>• Facility_ID (FK)</a:t>
            </a:r>
          </a:p>
          <a:p>
            <a:pPr>
              <a:spcAft>
                <a:spcPts val="400"/>
              </a:spcAft>
              <a:defRPr sz="1060">
                <a:solidFill>
                  <a:srgbClr val="202A36"/>
                </a:solidFill>
              </a:defRPr>
            </a:pPr>
            <a:r>
              <a:t>• Date, Start_Time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83280" y="3383280"/>
            <a:ext cx="2606040" cy="2057400"/>
          </a:xfrm>
          <a:prstGeom prst="roundRect">
            <a:avLst/>
          </a:prstGeom>
          <a:solidFill>
            <a:srgbClr val="F2F6FA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383280" y="3383280"/>
            <a:ext cx="73152" cy="2057400"/>
          </a:xfrm>
          <a:prstGeom prst="rect">
            <a:avLst/>
          </a:prstGeom>
          <a:solidFill>
            <a:srgbClr val="3A9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584448" y="3493008"/>
            <a:ext cx="2240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2340"/>
                </a:solidFill>
              </a:rPr>
              <a:t>RESULT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84448" y="3913632"/>
            <a:ext cx="2240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60">
                <a:solidFill>
                  <a:srgbClr val="202A36"/>
                </a:solidFill>
              </a:defRPr>
            </a:pPr>
            <a:r>
              <a:t>• Result_ID (PK)</a:t>
            </a:r>
          </a:p>
          <a:p>
            <a:pPr>
              <a:spcAft>
                <a:spcPts val="400"/>
              </a:spcAft>
              <a:defRPr sz="1060">
                <a:solidFill>
                  <a:srgbClr val="202A36"/>
                </a:solidFill>
              </a:defRPr>
            </a:pPr>
            <a:r>
              <a:t>• Fixture_ID (FK)</a:t>
            </a:r>
          </a:p>
          <a:p>
            <a:pPr>
              <a:spcAft>
                <a:spcPts val="400"/>
              </a:spcAft>
              <a:defRPr sz="1060">
                <a:solidFill>
                  <a:srgbClr val="202A36"/>
                </a:solidFill>
              </a:defRPr>
            </a:pPr>
            <a:r>
              <a:t>• Team1_Score</a:t>
            </a:r>
          </a:p>
          <a:p>
            <a:pPr>
              <a:spcAft>
                <a:spcPts val="400"/>
              </a:spcAft>
              <a:defRPr sz="1060">
                <a:solidFill>
                  <a:srgbClr val="202A36"/>
                </a:solidFill>
              </a:defRPr>
            </a:pPr>
            <a:r>
              <a:t>• Team2_Score</a:t>
            </a:r>
          </a:p>
          <a:p>
            <a:pPr>
              <a:spcAft>
                <a:spcPts val="400"/>
              </a:spcAft>
              <a:defRPr sz="1060">
                <a:solidFill>
                  <a:srgbClr val="202A36"/>
                </a:solidFill>
              </a:defRPr>
            </a:pPr>
            <a:r>
              <a:t>• Winner_Team_ID (FK)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3383280"/>
            <a:ext cx="2606040" cy="2057400"/>
          </a:xfrm>
          <a:prstGeom prst="roundRect">
            <a:avLst/>
          </a:prstGeom>
          <a:solidFill>
            <a:srgbClr val="F2F6FA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63640" y="3383280"/>
            <a:ext cx="73152" cy="2057400"/>
          </a:xfrm>
          <a:prstGeom prst="rect">
            <a:avLst/>
          </a:prstGeom>
          <a:solidFill>
            <a:srgbClr val="3E8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64807" y="3493008"/>
            <a:ext cx="2240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2340"/>
                </a:solidFill>
              </a:rPr>
              <a:t>EQUIPMENT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64807" y="3913632"/>
            <a:ext cx="2240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60">
                <a:solidFill>
                  <a:srgbClr val="202A36"/>
                </a:solidFill>
              </a:defRPr>
            </a:pPr>
            <a:r>
              <a:t>• Equipment_ID (PK)</a:t>
            </a:r>
          </a:p>
          <a:p>
            <a:pPr>
              <a:spcAft>
                <a:spcPts val="400"/>
              </a:spcAft>
              <a:defRPr sz="1060">
                <a:solidFill>
                  <a:srgbClr val="202A36"/>
                </a:solidFill>
              </a:defRPr>
            </a:pPr>
            <a:r>
              <a:t>• Name, Category</a:t>
            </a:r>
          </a:p>
          <a:p>
            <a:pPr>
              <a:spcAft>
                <a:spcPts val="400"/>
              </a:spcAft>
              <a:defRPr sz="1060">
                <a:solidFill>
                  <a:srgbClr val="202A36"/>
                </a:solidFill>
              </a:defRPr>
            </a:pPr>
            <a:r>
              <a:t>• Quantity</a:t>
            </a:r>
          </a:p>
          <a:p>
            <a:pPr>
              <a:spcAft>
                <a:spcPts val="400"/>
              </a:spcAft>
              <a:defRPr sz="1060">
                <a:solidFill>
                  <a:srgbClr val="202A36"/>
                </a:solidFill>
              </a:defRPr>
            </a:pPr>
            <a:r>
              <a:t>• Available_Quantity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3383280"/>
            <a:ext cx="2606040" cy="2057400"/>
          </a:xfrm>
          <a:prstGeom prst="roundRect">
            <a:avLst/>
          </a:prstGeom>
          <a:solidFill>
            <a:srgbClr val="F2F6FA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144000" y="3383280"/>
            <a:ext cx="73152" cy="2057400"/>
          </a:xfrm>
          <a:prstGeom prst="rect">
            <a:avLst/>
          </a:prstGeom>
          <a:solidFill>
            <a:srgbClr val="CD7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345168" y="3493008"/>
            <a:ext cx="2240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2340"/>
                </a:solidFill>
              </a:rPr>
              <a:t>EQUIPMENT_ISSUE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45168" y="3913632"/>
            <a:ext cx="2240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60">
                <a:solidFill>
                  <a:srgbClr val="202A36"/>
                </a:solidFill>
              </a:defRPr>
            </a:pPr>
            <a:r>
              <a:t>• Issue_ID (PK)</a:t>
            </a:r>
          </a:p>
          <a:p>
            <a:pPr>
              <a:spcAft>
                <a:spcPts val="400"/>
              </a:spcAft>
              <a:defRPr sz="1060">
                <a:solidFill>
                  <a:srgbClr val="202A36"/>
                </a:solidFill>
              </a:defRPr>
            </a:pPr>
            <a:r>
              <a:t>• Equipment_ID (FK)</a:t>
            </a:r>
          </a:p>
          <a:p>
            <a:pPr>
              <a:spcAft>
                <a:spcPts val="400"/>
              </a:spcAft>
              <a:defRPr sz="1060">
                <a:solidFill>
                  <a:srgbClr val="202A36"/>
                </a:solidFill>
              </a:defRPr>
            </a:pPr>
            <a:r>
              <a:t>• Member_ID (FK)</a:t>
            </a:r>
          </a:p>
          <a:p>
            <a:pPr>
              <a:spcAft>
                <a:spcPts val="400"/>
              </a:spcAft>
              <a:defRPr sz="1060">
                <a:solidFill>
                  <a:srgbClr val="202A36"/>
                </a:solidFill>
              </a:defRPr>
            </a:pPr>
            <a:r>
              <a:t>• Issue_Date</a:t>
            </a:r>
          </a:p>
          <a:p>
            <a:pPr>
              <a:spcAft>
                <a:spcPts val="400"/>
              </a:spcAft>
              <a:defRPr sz="1060">
                <a:solidFill>
                  <a:srgbClr val="202A36"/>
                </a:solidFill>
              </a:defRPr>
            </a:pPr>
            <a:r>
              <a:t>• Expected/Actual Return</a:t>
            </a:r>
          </a:p>
          <a:p>
            <a:pPr>
              <a:spcAft>
                <a:spcPts val="400"/>
              </a:spcAft>
              <a:defRPr sz="1060">
                <a:solidFill>
                  <a:srgbClr val="202A36"/>
                </a:solidFill>
              </a:defRPr>
            </a:pPr>
            <a:r>
              <a:t>• Status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59893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D6977"/>
                </a:solidFill>
              </a:rPr>
              <a:t>Next design stage: normalize to 3NF and add DDL constraints, indexes and validation logic.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9. Project Planning &amp; Milestones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46304"/>
            <a:ext cx="24688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CDDCEB"/>
                </a:solidFill>
              </a:rPr>
              <a:t>From Review 1 to final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D6977"/>
                </a:solidFill>
              </a:rPr>
              <a:t>DBMS PBL • Project 30 • Review 1     12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1143000"/>
            <a:ext cx="594360" cy="594360"/>
          </a:xfrm>
          <a:prstGeom prst="ellipse">
            <a:avLst/>
          </a:prstGeom>
          <a:solidFill>
            <a:srgbClr val="26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828800"/>
            <a:ext cx="1051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265B91"/>
                </a:solidFill>
              </a:rPr>
              <a:t>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182879" y="2240280"/>
            <a:ext cx="1920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12340"/>
                </a:solidFill>
              </a:rPr>
              <a:t>Requirements
&amp; SRS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97280" y="1435608"/>
            <a:ext cx="1737359" cy="0"/>
          </a:xfrm>
          <a:prstGeom prst="line">
            <a:avLst/>
          </a:prstGeom>
          <a:ln w="25400">
            <a:solidFill>
              <a:srgbClr val="BECA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834639" y="1143000"/>
            <a:ext cx="594360" cy="594360"/>
          </a:xfrm>
          <a:prstGeom prst="ellipse">
            <a:avLst/>
          </a:prstGeom>
          <a:solidFill>
            <a:srgbClr val="3A9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39" y="1828800"/>
            <a:ext cx="1051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3A9CBE"/>
                </a:solidFill>
              </a:rP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39" y="2240280"/>
            <a:ext cx="1920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12340"/>
                </a:solidFill>
              </a:rPr>
              <a:t>ER + Schema
Validation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428999" y="1435608"/>
            <a:ext cx="1737360" cy="0"/>
          </a:xfrm>
          <a:prstGeom prst="line">
            <a:avLst/>
          </a:prstGeom>
          <a:ln w="25400">
            <a:solidFill>
              <a:srgbClr val="BECA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166359" y="1143000"/>
            <a:ext cx="594360" cy="594360"/>
          </a:xfrm>
          <a:prstGeom prst="ellipse">
            <a:avLst/>
          </a:prstGeom>
          <a:solidFill>
            <a:srgbClr val="3E8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59" y="1828800"/>
            <a:ext cx="1051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3E8B64"/>
                </a:solidFill>
              </a:rPr>
              <a:t>WEEK 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2240280"/>
            <a:ext cx="1920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12340"/>
                </a:solidFill>
              </a:rPr>
              <a:t>3NF + DDL
+ Sample Data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760720" y="1435608"/>
            <a:ext cx="1737359" cy="0"/>
          </a:xfrm>
          <a:prstGeom prst="line">
            <a:avLst/>
          </a:prstGeom>
          <a:ln w="25400">
            <a:solidFill>
              <a:srgbClr val="BECA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7498079" y="1143000"/>
            <a:ext cx="594360" cy="594360"/>
          </a:xfrm>
          <a:prstGeom prst="ellipse">
            <a:avLst/>
          </a:prstGeom>
          <a:solidFill>
            <a:srgbClr val="CD7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79" y="1828800"/>
            <a:ext cx="1051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CD7E31"/>
                </a:solidFill>
              </a:rPr>
              <a:t>WEEK 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79" y="2240280"/>
            <a:ext cx="1920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12340"/>
                </a:solidFill>
              </a:rPr>
              <a:t>Queries +
Prototype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092440" y="1435608"/>
            <a:ext cx="1737360" cy="0"/>
          </a:xfrm>
          <a:prstGeom prst="line">
            <a:avLst/>
          </a:prstGeom>
          <a:ln w="25400">
            <a:solidFill>
              <a:srgbClr val="BECA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829800" y="1143000"/>
            <a:ext cx="594360" cy="594360"/>
          </a:xfrm>
          <a:prstGeom prst="ellipse">
            <a:avLst/>
          </a:prstGeom>
          <a:solidFill>
            <a:srgbClr val="26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1828800"/>
            <a:ext cx="1051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265B91"/>
                </a:solidFill>
              </a:rPr>
              <a:t>WEEK 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40280"/>
            <a:ext cx="1920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12340"/>
                </a:solidFill>
              </a:rPr>
              <a:t>Python/Java App
+ Final Demo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3657600"/>
            <a:ext cx="5212080" cy="1645920"/>
          </a:xfrm>
          <a:prstGeom prst="roundRect">
            <a:avLst/>
          </a:prstGeom>
          <a:solidFill>
            <a:srgbClr val="F2F6FA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85800" y="3657600"/>
            <a:ext cx="73152" cy="1645920"/>
          </a:xfrm>
          <a:prstGeom prst="rect">
            <a:avLst/>
          </a:prstGeom>
          <a:solidFill>
            <a:srgbClr val="26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86968" y="3767328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2340"/>
                </a:solidFill>
              </a:rPr>
              <a:t>Planned testing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" y="4187952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CRUD tests</a:t>
            </a:r>
          </a:p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Duplicate/invalid input tests</a:t>
            </a:r>
          </a:p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Foreign-key tests</a:t>
            </a:r>
          </a:p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Schedule conflict tests</a:t>
            </a:r>
          </a:p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Score/capacity tests</a:t>
            </a:r>
          </a:p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Report verification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657600"/>
            <a:ext cx="5212080" cy="1645920"/>
          </a:xfrm>
          <a:prstGeom prst="roundRect">
            <a:avLst/>
          </a:prstGeom>
          <a:solidFill>
            <a:srgbClr val="F2F6FA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172200" y="3657600"/>
            <a:ext cx="73152" cy="1645920"/>
          </a:xfrm>
          <a:prstGeom prst="rect">
            <a:avLst/>
          </a:prstGeom>
          <a:solidFill>
            <a:srgbClr val="3E8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73368" y="3767328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2340"/>
                </a:solidFill>
              </a:rPr>
              <a:t>Planned deliverables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3368" y="4187952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ER diagram</a:t>
            </a:r>
          </a:p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Normalized schema</a:t>
            </a:r>
          </a:p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SQL scripts + sample data</a:t>
            </a:r>
          </a:p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Queries/views</a:t>
            </a:r>
          </a:p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Prototype + source code</a:t>
            </a:r>
          </a:p>
          <a:p>
            <a:pPr>
              <a:spcAft>
                <a:spcPts val="400"/>
              </a:spcAft>
              <a:defRPr sz="1200">
                <a:solidFill>
                  <a:srgbClr val="202A36"/>
                </a:solidFill>
              </a:defRPr>
            </a:pPr>
            <a:r>
              <a:t>• Screenshots + report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10. Current Progress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46304"/>
            <a:ext cx="24688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CDDCEB"/>
                </a:solidFill>
              </a:rPr>
              <a:t>Review 1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D6977"/>
                </a:solidFill>
              </a:rPr>
              <a:t>DBMS PBL • Project 30 • Review 1    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14400"/>
            <a:ext cx="2103120" cy="347472"/>
          </a:xfrm>
          <a:prstGeom prst="roundRect">
            <a:avLst/>
          </a:prstGeom>
          <a:solidFill>
            <a:srgbClr val="E0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65B91"/>
                </a:solidFill>
              </a:rPr>
              <a:t>COMPLETED / PREPARED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5257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02A36"/>
                </a:solidFill>
              </a:defRPr>
            </a:pPr>
            <a:r>
              <a:t>• Problem statement and motivation defined</a:t>
            </a:r>
          </a:p>
          <a:p>
            <a:pPr>
              <a:spcAft>
                <a:spcPts val="700"/>
              </a:spcAft>
              <a:defRPr sz="1400">
                <a:solidFill>
                  <a:srgbClr val="202A36"/>
                </a:solidFill>
              </a:defRPr>
            </a:pPr>
            <a:r>
              <a:t>• Scope and objectives prepared</a:t>
            </a:r>
          </a:p>
          <a:p>
            <a:pPr>
              <a:spcAft>
                <a:spcPts val="700"/>
              </a:spcAft>
              <a:defRPr sz="1400">
                <a:solidFill>
                  <a:srgbClr val="202A36"/>
                </a:solidFill>
              </a:defRPr>
            </a:pPr>
            <a:r>
              <a:t>• Users and functional requirements identified</a:t>
            </a:r>
          </a:p>
          <a:p>
            <a:pPr>
              <a:spcAft>
                <a:spcPts val="700"/>
              </a:spcAft>
              <a:defRPr sz="1400">
                <a:solidFill>
                  <a:srgbClr val="202A36"/>
                </a:solidFill>
              </a:defRPr>
            </a:pPr>
            <a:r>
              <a:t>• Literature survey completed at a high level</a:t>
            </a:r>
          </a:p>
          <a:p>
            <a:pPr>
              <a:spcAft>
                <a:spcPts val="700"/>
              </a:spcAft>
              <a:defRPr sz="1400">
                <a:solidFill>
                  <a:srgbClr val="202A36"/>
                </a:solidFill>
              </a:defRPr>
            </a:pPr>
            <a:r>
              <a:t>• SRS baseline and business rules identified</a:t>
            </a:r>
          </a:p>
          <a:p>
            <a:pPr>
              <a:spcAft>
                <a:spcPts val="700"/>
              </a:spcAft>
              <a:defRPr sz="1400">
                <a:solidFill>
                  <a:srgbClr val="202A36"/>
                </a:solidFill>
              </a:defRPr>
            </a:pPr>
            <a:r>
              <a:t>• Principal entities and relationships mapped</a:t>
            </a:r>
          </a:p>
          <a:p>
            <a:pPr>
              <a:spcAft>
                <a:spcPts val="700"/>
              </a:spcAft>
              <a:defRPr sz="1400">
                <a:solidFill>
                  <a:srgbClr val="202A36"/>
                </a:solidFill>
              </a:defRPr>
            </a:pPr>
            <a:r>
              <a:t>• Initial relational schema drafted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914400"/>
            <a:ext cx="1600200" cy="347472"/>
          </a:xfrm>
          <a:prstGeom prst="roundRect">
            <a:avLst/>
          </a:prstGeom>
          <a:solidFill>
            <a:srgbClr val="E0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65B91"/>
                </a:solidFill>
              </a:rPr>
              <a:t>NEXT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325880"/>
            <a:ext cx="5257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02A36"/>
                </a:solidFill>
              </a:defRPr>
            </a:pPr>
            <a:r>
              <a:t>• Finalize ER diagram and cardinalities</a:t>
            </a:r>
          </a:p>
          <a:p>
            <a:pPr>
              <a:spcAft>
                <a:spcPts val="700"/>
              </a:spcAft>
              <a:defRPr sz="1400">
                <a:solidFill>
                  <a:srgbClr val="202A36"/>
                </a:solidFill>
              </a:defRPr>
            </a:pPr>
            <a:r>
              <a:t>• Review attributes and keys with the team</a:t>
            </a:r>
          </a:p>
          <a:p>
            <a:pPr>
              <a:spcAft>
                <a:spcPts val="700"/>
              </a:spcAft>
              <a:defRPr sz="1400">
                <a:solidFill>
                  <a:srgbClr val="202A36"/>
                </a:solidFill>
              </a:defRPr>
            </a:pPr>
            <a:r>
              <a:t>• Normalize schema to 3NF</a:t>
            </a:r>
          </a:p>
          <a:p>
            <a:pPr>
              <a:spcAft>
                <a:spcPts val="700"/>
              </a:spcAft>
              <a:defRPr sz="1400">
                <a:solidFill>
                  <a:srgbClr val="202A36"/>
                </a:solidFill>
              </a:defRPr>
            </a:pPr>
            <a:r>
              <a:t>• Prepare functional dependencies and data dictionary</a:t>
            </a:r>
          </a:p>
          <a:p>
            <a:pPr>
              <a:spcAft>
                <a:spcPts val="700"/>
              </a:spcAft>
              <a:defRPr sz="1400">
                <a:solidFill>
                  <a:srgbClr val="202A36"/>
                </a:solidFill>
              </a:defRPr>
            </a:pPr>
            <a:r>
              <a:t>• Implement DDL and integrity constraints</a:t>
            </a:r>
          </a:p>
          <a:p>
            <a:pPr>
              <a:spcAft>
                <a:spcPts val="700"/>
              </a:spcAft>
              <a:defRPr sz="1400">
                <a:solidFill>
                  <a:srgbClr val="202A36"/>
                </a:solidFill>
              </a:defRPr>
            </a:pPr>
            <a:r>
              <a:t>• Insert realistic sample data</a:t>
            </a:r>
          </a:p>
          <a:p>
            <a:pPr>
              <a:spcAft>
                <a:spcPts val="700"/>
              </a:spcAft>
              <a:defRPr sz="1400">
                <a:solidFill>
                  <a:srgbClr val="202A36"/>
                </a:solidFill>
              </a:defRPr>
            </a:pPr>
            <a:r>
              <a:t>• Develop SQL reports and prototype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5806440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65B91"/>
                </a:solidFill>
              </a:rPr>
              <a:t>Target for Review 1: clear requirements + defensible ER design + initial schema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46304"/>
            <a:ext cx="24688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CDDCEB"/>
                </a:solidFill>
              </a:rPr>
              <a:t>Literature survey &amp; technical reference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D6977"/>
                </a:solidFill>
              </a:rPr>
              <a:t>DBMS PBL • Project 30 • Review 1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106070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02A36"/>
                </a:solidFill>
              </a:defRPr>
            </a:pPr>
            <a:r>
              <a:t>• Project brief: DBMS_PBL_70_Unique_Project_Statements.docx — Project 30 requirements.</a:t>
            </a:r>
          </a:p>
          <a:p>
            <a:pPr>
              <a:spcAft>
                <a:spcPts val="700"/>
              </a:spcAft>
              <a:defRPr sz="1500">
                <a:solidFill>
                  <a:srgbClr val="202A36"/>
                </a:solidFill>
              </a:defRPr>
            </a:pPr>
            <a:r>
              <a:t>• SportMember — club/team management, membership, activities, payments and facility/equipment features.</a:t>
            </a:r>
          </a:p>
          <a:p>
            <a:pPr>
              <a:spcAft>
                <a:spcPts val="700"/>
              </a:spcAft>
              <a:defRPr sz="1500">
                <a:solidFill>
                  <a:srgbClr val="202A36"/>
                </a:solidFill>
              </a:defRPr>
            </a:pPr>
            <a:r>
              <a:t>• TeamSnap — tournament organization, standings, scheduling, registration and results.</a:t>
            </a:r>
          </a:p>
          <a:p>
            <a:pPr>
              <a:spcAft>
                <a:spcPts val="700"/>
              </a:spcAft>
              <a:defRPr sz="1500">
                <a:solidFill>
                  <a:srgbClr val="202A36"/>
                </a:solidFill>
              </a:defRPr>
            </a:pPr>
            <a:r>
              <a:t>• MySQL 8.0 Reference Manual — PRIMARY KEY, UNIQUE and FOREIGN KEY constraints.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160520"/>
            <a:ext cx="1060704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2340"/>
                </a:solidFill>
              </a:rPr>
              <a:t>Online sources</a:t>
            </a:r>
          </a:p>
          <a:p>
            <a:r>
              <a:rPr sz="1000">
                <a:solidFill>
                  <a:srgbClr val="265B91"/>
                </a:solidFill>
              </a:rPr>
              <a:t>https://www.sportmember.com/</a:t>
            </a:r>
          </a:p>
          <a:p>
            <a:r>
              <a:rPr sz="1000">
                <a:solidFill>
                  <a:srgbClr val="265B91"/>
                </a:solidFill>
              </a:rPr>
              <a:t>https://www.teamsnap.com/for-business/features/tournaments</a:t>
            </a:r>
          </a:p>
          <a:p>
            <a:r>
              <a:rPr sz="1000">
                <a:solidFill>
                  <a:srgbClr val="265B91"/>
                </a:solidFill>
              </a:rPr>
              <a:t>https://dev.mysql.com/doc/refman/8.0/en/constraint-primary-key.html</a:t>
            </a:r>
          </a:p>
          <a:p>
            <a:r>
              <a:rPr sz="1000">
                <a:solidFill>
                  <a:srgbClr val="265B91"/>
                </a:solidFill>
              </a:rPr>
              <a:t>https://dev.mysql.com/doc/refman/8.0/en/create-table-foreign-keys.html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89788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12340"/>
                </a:solidFill>
              </a:rPr>
              <a:t>Thank you —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2004</Words>
  <Application>Microsoft Office PowerPoint</Application>
  <PresentationFormat>Widescreen</PresentationFormat>
  <Paragraphs>357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Abhigna Sai</dc:creator>
  <cp:keywords/>
  <dc:description>generated using python-pptx</dc:description>
  <cp:lastModifiedBy>abhigna sai</cp:lastModifiedBy>
  <cp:revision>2</cp:revision>
  <dcterms:created xsi:type="dcterms:W3CDTF">2013-01-27T09:14:16Z</dcterms:created>
  <dcterms:modified xsi:type="dcterms:W3CDTF">2026-09-15T15:51:07Z</dcterms:modified>
  <cp:category/>
</cp:coreProperties>
</file>